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1" r:id="rId2"/>
    <p:sldId id="258" r:id="rId3"/>
    <p:sldId id="266" r:id="rId4"/>
    <p:sldId id="260" r:id="rId5"/>
    <p:sldId id="267" r:id="rId6"/>
    <p:sldId id="268" r:id="rId7"/>
    <p:sldId id="269" r:id="rId8"/>
    <p:sldId id="264" r:id="rId9"/>
    <p:sldId id="273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42A65C-3B36-4DCD-84C7-253D53E0C6DA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358C7-8883-4E77-90F2-8C4F4D4708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5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4300"/>
          </a:xfrm>
          <a:prstGeom prst="rect">
            <a:avLst/>
          </a:prstGeom>
          <a:solidFill>
            <a:srgbClr val="123B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81030" y="933450"/>
            <a:ext cx="24966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776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RESULT REPORT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81025" y="1504950"/>
            <a:ext cx="495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SMART CART</a:t>
            </a:r>
            <a:endParaRPr lang="en-US" sz="3900" dirty="0"/>
          </a:p>
        </p:txBody>
      </p:sp>
      <p:sp>
        <p:nvSpPr>
          <p:cNvPr id="6" name="Text 4"/>
          <p:cNvSpPr/>
          <p:nvPr/>
        </p:nvSpPr>
        <p:spPr>
          <a:xfrm>
            <a:off x="781025" y="2152650"/>
            <a:ext cx="5080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결과보고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19125" y="3810000"/>
            <a:ext cx="508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dirty="0">
                <a:solidFill>
                  <a:srgbClr val="4862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Computer Vision 기반 상품 인식 · </a:t>
            </a:r>
          </a:p>
          <a:p>
            <a:pPr marL="0" indent="0" algn="l">
              <a:buNone/>
            </a:pPr>
            <a:r>
              <a:rPr lang="en-US" sz="1650" dirty="0" err="1">
                <a:solidFill>
                  <a:srgbClr val="4862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장바구니</a:t>
            </a:r>
            <a:r>
              <a:rPr lang="en-US" sz="1650" dirty="0">
                <a:solidFill>
                  <a:srgbClr val="4862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계산 · 레시피 추천 서비스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5969000" y="1092200"/>
            <a:ext cx="5867400" cy="3276600"/>
          </a:xfrm>
          <a:prstGeom prst="rect">
            <a:avLst/>
          </a:prstGeom>
          <a:solidFill>
            <a:srgbClr val="EEF5FC"/>
          </a:solidFill>
          <a:ln w="19050">
            <a:solidFill>
              <a:srgbClr val="9FC4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81030" y="6086475"/>
            <a:ext cx="1326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F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Team 3</a:t>
            </a:r>
            <a:endParaRPr lang="en-US" sz="1200" dirty="0"/>
          </a:p>
        </p:txBody>
      </p:sp>
      <p:pic>
        <p:nvPicPr>
          <p:cNvPr id="20" name="SMART CART Cover 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5200" y="1168400"/>
            <a:ext cx="5715000" cy="311808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8457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123B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04832" y="476250"/>
            <a:ext cx="174868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776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TEAM &amp; INTENT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832" y="781050"/>
            <a:ext cx="1028674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소개 및 기획의도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04832" y="1409700"/>
            <a:ext cx="10782030" cy="19050"/>
          </a:xfrm>
          <a:prstGeom prst="rect">
            <a:avLst/>
          </a:prstGeom>
          <a:solidFill>
            <a:srgbClr val="D7E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DDCE505-591A-442C-9ED1-E69A7DC92CE9}"/>
              </a:ext>
            </a:extLst>
          </p:cNvPr>
          <p:cNvSpPr/>
          <p:nvPr/>
        </p:nvSpPr>
        <p:spPr>
          <a:xfrm>
            <a:off x="704850" y="1676400"/>
            <a:ext cx="10782300" cy="914400"/>
          </a:xfrm>
          <a:prstGeom prst="rect">
            <a:avLst/>
          </a:prstGeom>
          <a:solidFill>
            <a:srgbClr val="EAF3FB"/>
          </a:solidFill>
          <a:ln w="15240" cap="flat" cmpd="sng" algn="ctr">
            <a:solidFill>
              <a:srgbClr val="8AB6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B20D5B-724C-4A27-B4C5-0A10CB6668CA}"/>
              </a:ext>
            </a:extLst>
          </p:cNvPr>
          <p:cNvSpPr txBox="1"/>
          <p:nvPr/>
        </p:nvSpPr>
        <p:spPr>
          <a:xfrm>
            <a:off x="965200" y="1892300"/>
            <a:ext cx="102489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ko-KR" sz="1700" b="1">
                <a:solidFill>
                  <a:srgbClr val="123B6D"/>
                </a:solidFill>
                <a:latin typeface="Malgun Gothic"/>
                <a:ea typeface="Malgun Gothic"/>
              </a:rPr>
              <a:t>1</a:t>
            </a:r>
            <a:r>
              <a:rPr lang="ko-KR" altLang="en-US" sz="1700" b="1">
                <a:solidFill>
                  <a:srgbClr val="123B6D"/>
                </a:solidFill>
                <a:latin typeface="Malgun Gothic"/>
                <a:ea typeface="Malgun Gothic"/>
              </a:rPr>
              <a:t>인 가구 증가와 식품 물가 부담을 데이터로 확인하고</a:t>
            </a:r>
            <a:r>
              <a:rPr lang="en-US" altLang="ko-KR" sz="1700" b="1">
                <a:solidFill>
                  <a:srgbClr val="123B6D"/>
                </a:solidFill>
                <a:latin typeface="Malgun Gothic"/>
                <a:ea typeface="Malgun Gothic"/>
              </a:rPr>
              <a:t>, AI</a:t>
            </a:r>
            <a:r>
              <a:rPr lang="ko-KR" altLang="en-US" sz="1700" b="1">
                <a:solidFill>
                  <a:srgbClr val="123B6D"/>
                </a:solidFill>
                <a:latin typeface="Malgun Gothic"/>
                <a:ea typeface="Malgun Gothic"/>
              </a:rPr>
              <a:t>로 가격 관리와 식재료 활용을 돕는 </a:t>
            </a:r>
            <a:r>
              <a:rPr lang="en-US" altLang="ko-KR" sz="1700" b="1">
                <a:solidFill>
                  <a:srgbClr val="123B6D"/>
                </a:solidFill>
                <a:latin typeface="Malgun Gothic"/>
                <a:ea typeface="Malgun Gothic"/>
              </a:rPr>
              <a:t>SMART CART</a:t>
            </a:r>
            <a:r>
              <a:rPr lang="ko-KR" altLang="en-US" sz="1700" b="1">
                <a:solidFill>
                  <a:srgbClr val="123B6D"/>
                </a:solidFill>
                <a:latin typeface="Malgun Gothic"/>
                <a:ea typeface="Malgun Gothic"/>
              </a:rPr>
              <a:t>를 기획하였다</a:t>
            </a:r>
            <a:r>
              <a:rPr lang="en-US" altLang="ko-KR" sz="1700" b="1">
                <a:solidFill>
                  <a:srgbClr val="123B6D"/>
                </a:solidFill>
                <a:latin typeface="Malgun Gothic"/>
                <a:ea typeface="Malgun Gothic"/>
              </a:rPr>
              <a:t>.</a:t>
            </a:r>
            <a:endParaRPr lang="ko-KR" altLang="en-US" sz="1700" b="1">
              <a:solidFill>
                <a:srgbClr val="123B6D"/>
              </a:solidFill>
              <a:latin typeface="Malgun Gothic"/>
              <a:ea typeface="Malgun Gothic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D3E7070-BEB2-4387-B65A-2E7911BD0E03}"/>
              </a:ext>
            </a:extLst>
          </p:cNvPr>
          <p:cNvSpPr/>
          <p:nvPr/>
        </p:nvSpPr>
        <p:spPr>
          <a:xfrm>
            <a:off x="704850" y="2794000"/>
            <a:ext cx="5168900" cy="3175000"/>
          </a:xfrm>
          <a:prstGeom prst="rect">
            <a:avLst/>
          </a:prstGeom>
          <a:solidFill>
            <a:srgbClr val="F7F9FC"/>
          </a:solidFill>
          <a:ln w="15240" cap="flat" cmpd="sng" algn="ctr">
            <a:solidFill>
              <a:srgbClr val="C5D9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83FCCE1-9D8C-4D9E-9D17-43666B7013C8}"/>
              </a:ext>
            </a:extLst>
          </p:cNvPr>
          <p:cNvSpPr/>
          <p:nvPr/>
        </p:nvSpPr>
        <p:spPr>
          <a:xfrm>
            <a:off x="6070600" y="2794000"/>
            <a:ext cx="5416550" cy="3175000"/>
          </a:xfrm>
          <a:prstGeom prst="rect">
            <a:avLst/>
          </a:prstGeom>
          <a:solidFill>
            <a:srgbClr val="FFFFFF"/>
          </a:solidFill>
          <a:ln w="15240" cap="flat" cmpd="sng" algn="ctr">
            <a:solidFill>
              <a:srgbClr val="8AB6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C8CAA3-25FD-41C0-9C31-A2EEE0BB9D6C}"/>
              </a:ext>
            </a:extLst>
          </p:cNvPr>
          <p:cNvSpPr txBox="1"/>
          <p:nvPr/>
        </p:nvSpPr>
        <p:spPr>
          <a:xfrm>
            <a:off x="990600" y="3086100"/>
            <a:ext cx="190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ko-KR" altLang="en-US" sz="1900" b="1">
                <a:solidFill>
                  <a:srgbClr val="123B6D"/>
                </a:solidFill>
                <a:latin typeface="Malgun Gothic"/>
                <a:ea typeface="Malgun Gothic"/>
              </a:rPr>
              <a:t>문제 배경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C3A60B-DE87-4FFE-919E-8CBA236CA6FA}"/>
              </a:ext>
            </a:extLst>
          </p:cNvPr>
          <p:cNvSpPr txBox="1"/>
          <p:nvPr/>
        </p:nvSpPr>
        <p:spPr>
          <a:xfrm>
            <a:off x="6362700" y="3086100"/>
            <a:ext cx="1905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ko-KR" altLang="en-US" sz="1900" b="1">
                <a:solidFill>
                  <a:srgbClr val="123B6D"/>
                </a:solidFill>
                <a:latin typeface="Malgun Gothic"/>
                <a:ea typeface="Malgun Gothic"/>
              </a:rPr>
              <a:t>기획 목표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F8F1C5B-70D6-4AF5-9FC5-CC1FEEB8966C}"/>
              </a:ext>
            </a:extLst>
          </p:cNvPr>
          <p:cNvSpPr/>
          <p:nvPr/>
        </p:nvSpPr>
        <p:spPr>
          <a:xfrm>
            <a:off x="1016000" y="3822700"/>
            <a:ext cx="88900" cy="88900"/>
          </a:xfrm>
          <a:prstGeom prst="ellipse">
            <a:avLst/>
          </a:prstGeom>
          <a:solidFill>
            <a:srgbClr val="277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A823A1-7DD4-4023-ADF9-4280F2D3A1C1}"/>
              </a:ext>
            </a:extLst>
          </p:cNvPr>
          <p:cNvSpPr txBox="1"/>
          <p:nvPr/>
        </p:nvSpPr>
        <p:spPr>
          <a:xfrm>
            <a:off x="1244600" y="37338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ko-KR" sz="1500" b="1">
                <a:solidFill>
                  <a:srgbClr val="0B1F3A"/>
                </a:solidFill>
                <a:latin typeface="Malgun Gothic"/>
                <a:ea typeface="Malgun Gothic"/>
              </a:rPr>
              <a:t>1</a:t>
            </a:r>
            <a:r>
              <a:rPr lang="ko-KR" altLang="en-US" sz="1500" b="1">
                <a:solidFill>
                  <a:srgbClr val="0B1F3A"/>
                </a:solidFill>
                <a:latin typeface="Malgun Gothic"/>
                <a:ea typeface="Malgun Gothic"/>
              </a:rPr>
              <a:t>인 가구 지속 증가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5D5DFB-0C0E-483C-8EE7-6CDC7266B1C5}"/>
              </a:ext>
            </a:extLst>
          </p:cNvPr>
          <p:cNvSpPr txBox="1"/>
          <p:nvPr/>
        </p:nvSpPr>
        <p:spPr>
          <a:xfrm>
            <a:off x="1244600" y="4038600"/>
            <a:ext cx="4064000" cy="2413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1200">
                <a:solidFill>
                  <a:srgbClr val="6B7F93"/>
                </a:solidFill>
                <a:latin typeface="Malgun Gothic"/>
                <a:ea typeface="Malgun Gothic"/>
              </a:rPr>
              <a:t>핵심 사용자층 확대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D990A771-A9FC-4954-82F0-90228EB72083}"/>
              </a:ext>
            </a:extLst>
          </p:cNvPr>
          <p:cNvSpPr/>
          <p:nvPr/>
        </p:nvSpPr>
        <p:spPr>
          <a:xfrm>
            <a:off x="6388100" y="3822700"/>
            <a:ext cx="88900" cy="88900"/>
          </a:xfrm>
          <a:prstGeom prst="ellipse">
            <a:avLst/>
          </a:prstGeom>
          <a:solidFill>
            <a:srgbClr val="277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C72643-7AC1-4057-B037-11CA1BBC4C45}"/>
              </a:ext>
            </a:extLst>
          </p:cNvPr>
          <p:cNvSpPr txBox="1"/>
          <p:nvPr/>
        </p:nvSpPr>
        <p:spPr>
          <a:xfrm>
            <a:off x="6616700" y="3733800"/>
            <a:ext cx="436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1500" b="1">
                <a:solidFill>
                  <a:srgbClr val="0B1F3A"/>
                </a:solidFill>
                <a:latin typeface="Malgun Gothic"/>
                <a:ea typeface="Malgun Gothic"/>
              </a:rPr>
              <a:t>카메라 기반 상품 자동 인식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A366D65-201E-4273-B7F4-685C20CD8CB8}"/>
              </a:ext>
            </a:extLst>
          </p:cNvPr>
          <p:cNvSpPr txBox="1"/>
          <p:nvPr/>
        </p:nvSpPr>
        <p:spPr>
          <a:xfrm>
            <a:off x="6616700" y="4038600"/>
            <a:ext cx="4368800" cy="2413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altLang="ko-KR" sz="1200">
                <a:solidFill>
                  <a:srgbClr val="6B7F93"/>
                </a:solidFill>
                <a:latin typeface="Malgun Gothic"/>
                <a:ea typeface="Malgun Gothic"/>
              </a:rPr>
              <a:t>YOLO </a:t>
            </a:r>
            <a:r>
              <a:rPr lang="ko-KR" altLang="en-US" sz="1200">
                <a:solidFill>
                  <a:srgbClr val="6B7F93"/>
                </a:solidFill>
                <a:latin typeface="Malgun Gothic"/>
                <a:ea typeface="Malgun Gothic"/>
              </a:rPr>
              <a:t>상품 인식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027A7C01-3115-45BA-A72F-6FC8AA347920}"/>
              </a:ext>
            </a:extLst>
          </p:cNvPr>
          <p:cNvSpPr/>
          <p:nvPr/>
        </p:nvSpPr>
        <p:spPr>
          <a:xfrm>
            <a:off x="1016000" y="4521200"/>
            <a:ext cx="88900" cy="88900"/>
          </a:xfrm>
          <a:prstGeom prst="ellipse">
            <a:avLst/>
          </a:prstGeom>
          <a:solidFill>
            <a:srgbClr val="277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914DE6-7709-4751-9F79-A75B2339FAF7}"/>
              </a:ext>
            </a:extLst>
          </p:cNvPr>
          <p:cNvSpPr txBox="1"/>
          <p:nvPr/>
        </p:nvSpPr>
        <p:spPr>
          <a:xfrm>
            <a:off x="1244600" y="44323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1500" b="1">
                <a:solidFill>
                  <a:srgbClr val="0B1F3A"/>
                </a:solidFill>
                <a:latin typeface="Malgun Gothic"/>
                <a:ea typeface="Malgun Gothic"/>
              </a:rPr>
              <a:t>장보기 물가 부담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F004C8-4BCD-40D5-AE7B-D615075DD447}"/>
              </a:ext>
            </a:extLst>
          </p:cNvPr>
          <p:cNvSpPr txBox="1"/>
          <p:nvPr/>
        </p:nvSpPr>
        <p:spPr>
          <a:xfrm>
            <a:off x="1244600" y="4737100"/>
            <a:ext cx="4064000" cy="2413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1200">
                <a:solidFill>
                  <a:srgbClr val="6B7F93"/>
                </a:solidFill>
                <a:latin typeface="Malgun Gothic"/>
                <a:ea typeface="Malgun Gothic"/>
              </a:rPr>
              <a:t>구매 중 가격 확인 필요</a:t>
            </a: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F03C4E25-25DA-4ED0-89B6-04DFC06224CB}"/>
              </a:ext>
            </a:extLst>
          </p:cNvPr>
          <p:cNvSpPr/>
          <p:nvPr/>
        </p:nvSpPr>
        <p:spPr>
          <a:xfrm>
            <a:off x="6388100" y="4521200"/>
            <a:ext cx="88900" cy="88900"/>
          </a:xfrm>
          <a:prstGeom prst="ellipse">
            <a:avLst/>
          </a:prstGeom>
          <a:solidFill>
            <a:srgbClr val="277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FC2EA2-5D65-428A-B051-96EB04A8B7D8}"/>
              </a:ext>
            </a:extLst>
          </p:cNvPr>
          <p:cNvSpPr txBox="1"/>
          <p:nvPr/>
        </p:nvSpPr>
        <p:spPr>
          <a:xfrm>
            <a:off x="6616700" y="4432300"/>
            <a:ext cx="436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1500" b="1">
                <a:solidFill>
                  <a:srgbClr val="0B1F3A"/>
                </a:solidFill>
                <a:latin typeface="Malgun Gothic"/>
                <a:ea typeface="Malgun Gothic"/>
              </a:rPr>
              <a:t>가격 및 장바구니 총액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15FDF3-94DE-4731-BBDC-594FFC6459F6}"/>
              </a:ext>
            </a:extLst>
          </p:cNvPr>
          <p:cNvSpPr txBox="1"/>
          <p:nvPr/>
        </p:nvSpPr>
        <p:spPr>
          <a:xfrm>
            <a:off x="6616700" y="4737100"/>
            <a:ext cx="4368800" cy="2413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1200">
                <a:solidFill>
                  <a:srgbClr val="6B7F93"/>
                </a:solidFill>
                <a:latin typeface="Malgun Gothic"/>
                <a:ea typeface="Malgun Gothic"/>
              </a:rPr>
              <a:t>실시간 누적 금액 관리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1CE84358-55AD-47E8-AD6A-7CC5AE37768F}"/>
              </a:ext>
            </a:extLst>
          </p:cNvPr>
          <p:cNvSpPr/>
          <p:nvPr/>
        </p:nvSpPr>
        <p:spPr>
          <a:xfrm>
            <a:off x="1016000" y="5219700"/>
            <a:ext cx="88900" cy="88900"/>
          </a:xfrm>
          <a:prstGeom prst="ellipse">
            <a:avLst/>
          </a:prstGeom>
          <a:solidFill>
            <a:srgbClr val="277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6A3448-D9F7-4EA5-83AA-C1AE3D3B4ACA}"/>
              </a:ext>
            </a:extLst>
          </p:cNvPr>
          <p:cNvSpPr txBox="1"/>
          <p:nvPr/>
        </p:nvSpPr>
        <p:spPr>
          <a:xfrm>
            <a:off x="1244600" y="51308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1500" b="1">
                <a:solidFill>
                  <a:srgbClr val="0B1F3A"/>
                </a:solidFill>
                <a:latin typeface="Malgun Gothic"/>
                <a:ea typeface="Malgun Gothic"/>
              </a:rPr>
              <a:t>구매 식재료 활용 문제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BB92B9-4D93-4910-AE9C-1E4C40105BC9}"/>
              </a:ext>
            </a:extLst>
          </p:cNvPr>
          <p:cNvSpPr txBox="1"/>
          <p:nvPr/>
        </p:nvSpPr>
        <p:spPr>
          <a:xfrm>
            <a:off x="1244600" y="5435600"/>
            <a:ext cx="4064000" cy="2413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1200">
                <a:solidFill>
                  <a:srgbClr val="6B7F93"/>
                </a:solidFill>
                <a:latin typeface="Malgun Gothic"/>
                <a:ea typeface="Malgun Gothic"/>
              </a:rPr>
              <a:t>남은 재료 활용 지원 필요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8AF9BFB2-283D-4577-A63F-6404EE1961F6}"/>
              </a:ext>
            </a:extLst>
          </p:cNvPr>
          <p:cNvSpPr/>
          <p:nvPr/>
        </p:nvSpPr>
        <p:spPr>
          <a:xfrm>
            <a:off x="6388100" y="5219700"/>
            <a:ext cx="88900" cy="88900"/>
          </a:xfrm>
          <a:prstGeom prst="ellipse">
            <a:avLst/>
          </a:prstGeom>
          <a:solidFill>
            <a:srgbClr val="277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6B77279-73AF-476F-B3C6-F037408B4F7B}"/>
              </a:ext>
            </a:extLst>
          </p:cNvPr>
          <p:cNvSpPr txBox="1"/>
          <p:nvPr/>
        </p:nvSpPr>
        <p:spPr>
          <a:xfrm>
            <a:off x="6616700" y="5130800"/>
            <a:ext cx="4368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1500" b="1">
                <a:solidFill>
                  <a:srgbClr val="0B1F3A"/>
                </a:solidFill>
                <a:latin typeface="Malgun Gothic"/>
                <a:ea typeface="Malgun Gothic"/>
              </a:rPr>
              <a:t>구매 식재료 기반 레시피 추천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B65CB4-A357-4E4A-B678-9F4E567D7D83}"/>
              </a:ext>
            </a:extLst>
          </p:cNvPr>
          <p:cNvSpPr txBox="1"/>
          <p:nvPr/>
        </p:nvSpPr>
        <p:spPr>
          <a:xfrm>
            <a:off x="6616700" y="5435600"/>
            <a:ext cx="4368800" cy="2413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ko-KR" altLang="en-US" sz="1200">
                <a:solidFill>
                  <a:srgbClr val="6B7F93"/>
                </a:solidFill>
                <a:latin typeface="Malgun Gothic"/>
                <a:ea typeface="Malgun Gothic"/>
              </a:rPr>
              <a:t>식재료 활용도 향상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17C04C-0FC7-4376-A660-167ED379E703}"/>
              </a:ext>
            </a:extLst>
          </p:cNvPr>
          <p:cNvSpPr txBox="1"/>
          <p:nvPr/>
        </p:nvSpPr>
        <p:spPr>
          <a:xfrm>
            <a:off x="704850" y="6362700"/>
            <a:ext cx="762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85000" lnSpcReduction="20000"/>
          </a:bodyPr>
          <a:lstStyle/>
          <a:p>
            <a:pPr algn="l"/>
            <a:r>
              <a:rPr lang="ko-KR" altLang="en-US" sz="1050">
                <a:solidFill>
                  <a:srgbClr val="8091A3"/>
                </a:solidFill>
                <a:latin typeface="Malgun Gothic"/>
                <a:ea typeface="Malgun Gothic"/>
              </a:rPr>
              <a:t>데이터 기반 문제 정의 → </a:t>
            </a:r>
            <a:r>
              <a:rPr lang="en-US" altLang="ko-KR" sz="1050">
                <a:solidFill>
                  <a:srgbClr val="8091A3"/>
                </a:solidFill>
                <a:latin typeface="Malgun Gothic"/>
                <a:ea typeface="Malgun Gothic"/>
              </a:rPr>
              <a:t>AI </a:t>
            </a:r>
            <a:r>
              <a:rPr lang="ko-KR" altLang="en-US" sz="1050">
                <a:solidFill>
                  <a:srgbClr val="8091A3"/>
                </a:solidFill>
                <a:latin typeface="Malgun Gothic"/>
                <a:ea typeface="Malgun Gothic"/>
              </a:rPr>
              <a:t>상품 인식 → 가격 관리 → 레시피 추천</a:t>
            </a:r>
          </a:p>
        </p:txBody>
      </p:sp>
    </p:spTree>
    <p:extLst>
      <p:ext uri="{BB962C8B-B14F-4D97-AF65-F5344CB8AC3E}">
        <p14:creationId xmlns:p14="http://schemas.microsoft.com/office/powerpoint/2010/main" val="4219584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123B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04832" y="476250"/>
            <a:ext cx="188679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776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PROBLEM &amp; DATA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832" y="781050"/>
            <a:ext cx="1028674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 및 데이터 분석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04832" y="1409700"/>
            <a:ext cx="10782030" cy="19050"/>
          </a:xfrm>
          <a:prstGeom prst="rect">
            <a:avLst/>
          </a:prstGeom>
          <a:solidFill>
            <a:srgbClr val="D7E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572AB4F-8B6E-4A43-943D-2A27B34FB052}"/>
              </a:ext>
            </a:extLst>
          </p:cNvPr>
          <p:cNvSpPr/>
          <p:nvPr/>
        </p:nvSpPr>
        <p:spPr>
          <a:xfrm>
            <a:off x="704850" y="1695450"/>
            <a:ext cx="5207000" cy="1955800"/>
          </a:xfrm>
          <a:prstGeom prst="rect">
            <a:avLst/>
          </a:prstGeom>
          <a:solidFill>
            <a:srgbClr val="F7F9FC"/>
          </a:solidFill>
          <a:ln w="13970" cap="flat" cmpd="sng" algn="ctr">
            <a:solidFill>
              <a:srgbClr val="8AB6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A7750B-8436-48AA-9A41-466E8B165D7E}"/>
              </a:ext>
            </a:extLst>
          </p:cNvPr>
          <p:cNvSpPr txBox="1"/>
          <p:nvPr/>
        </p:nvSpPr>
        <p:spPr>
          <a:xfrm>
            <a:off x="869950" y="3232150"/>
            <a:ext cx="4876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altLang="ko-KR" sz="1150" b="1">
                <a:solidFill>
                  <a:srgbClr val="123B6D"/>
                </a:solidFill>
                <a:latin typeface="Malgun Gothic"/>
                <a:ea typeface="Malgun Gothic"/>
              </a:rPr>
              <a:t>2020</a:t>
            </a:r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년 </a:t>
            </a:r>
            <a:r>
              <a:rPr lang="en-US" altLang="ko-KR" sz="1150" b="1">
                <a:solidFill>
                  <a:srgbClr val="123B6D"/>
                </a:solidFill>
                <a:latin typeface="Malgun Gothic"/>
                <a:ea typeface="Malgun Gothic"/>
              </a:rPr>
              <a:t>664</a:t>
            </a:r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만 → </a:t>
            </a:r>
            <a:r>
              <a:rPr lang="en-US" altLang="ko-KR" sz="1150" b="1">
                <a:solidFill>
                  <a:srgbClr val="123B6D"/>
                </a:solidFill>
                <a:latin typeface="Malgun Gothic"/>
                <a:ea typeface="Malgun Gothic"/>
              </a:rPr>
              <a:t>2025</a:t>
            </a:r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년 </a:t>
            </a:r>
            <a:r>
              <a:rPr lang="en-US" altLang="ko-KR" sz="1150" b="1">
                <a:solidFill>
                  <a:srgbClr val="123B6D"/>
                </a:solidFill>
                <a:latin typeface="Malgun Gothic"/>
                <a:ea typeface="Malgun Gothic"/>
              </a:rPr>
              <a:t>824</a:t>
            </a:r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만 가구  </a:t>
            </a:r>
            <a:r>
              <a:rPr lang="en-US" altLang="ko-KR" sz="1150" b="1">
                <a:solidFill>
                  <a:srgbClr val="123B6D"/>
                </a:solidFill>
                <a:latin typeface="Malgun Gothic"/>
                <a:ea typeface="Malgun Gothic"/>
              </a:rPr>
              <a:t>|  SMART CART </a:t>
            </a:r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주요 타깃 증가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EBC3BF5-A8A9-4C52-B96A-CEDEB7AB682A}"/>
              </a:ext>
            </a:extLst>
          </p:cNvPr>
          <p:cNvSpPr/>
          <p:nvPr/>
        </p:nvSpPr>
        <p:spPr>
          <a:xfrm>
            <a:off x="6280150" y="1695450"/>
            <a:ext cx="5207000" cy="1955800"/>
          </a:xfrm>
          <a:prstGeom prst="rect">
            <a:avLst/>
          </a:prstGeom>
          <a:solidFill>
            <a:srgbClr val="F7F9FC"/>
          </a:solidFill>
          <a:ln w="13970" cap="flat" cmpd="sng" algn="ctr">
            <a:solidFill>
              <a:srgbClr val="8AB6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FC0BBF-27C3-4C10-AF4E-A10214C83C00}"/>
              </a:ext>
            </a:extLst>
          </p:cNvPr>
          <p:cNvSpPr txBox="1"/>
          <p:nvPr/>
        </p:nvSpPr>
        <p:spPr>
          <a:xfrm>
            <a:off x="6445250" y="3232150"/>
            <a:ext cx="4876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동네 슈퍼</a:t>
            </a:r>
            <a:r>
              <a:rPr lang="en-US" altLang="ko-KR" sz="1150" b="1">
                <a:solidFill>
                  <a:srgbClr val="123B6D"/>
                </a:solidFill>
                <a:latin typeface="Malgun Gothic"/>
                <a:ea typeface="Malgun Gothic"/>
              </a:rPr>
              <a:t>·</a:t>
            </a:r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식자재마트 </a:t>
            </a:r>
            <a:r>
              <a:rPr lang="en-US" altLang="ko-KR" sz="1150" b="1">
                <a:solidFill>
                  <a:srgbClr val="123B6D"/>
                </a:solidFill>
                <a:latin typeface="Malgun Gothic"/>
                <a:ea typeface="Malgun Gothic"/>
              </a:rPr>
              <a:t>36.6%  |  </a:t>
            </a:r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오프라인 장보기 수요 확인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16D9314-1DDE-4E12-82E3-09318FA1E9CB}"/>
              </a:ext>
            </a:extLst>
          </p:cNvPr>
          <p:cNvSpPr/>
          <p:nvPr/>
        </p:nvSpPr>
        <p:spPr>
          <a:xfrm>
            <a:off x="704850" y="3835400"/>
            <a:ext cx="5207000" cy="1955800"/>
          </a:xfrm>
          <a:prstGeom prst="rect">
            <a:avLst/>
          </a:prstGeom>
          <a:solidFill>
            <a:srgbClr val="F7F9FC"/>
          </a:solidFill>
          <a:ln w="13970" cap="flat" cmpd="sng" algn="ctr">
            <a:solidFill>
              <a:srgbClr val="8AB6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25B42E-EB03-4DEC-9D2F-6F142FF1AEFE}"/>
              </a:ext>
            </a:extLst>
          </p:cNvPr>
          <p:cNvSpPr txBox="1"/>
          <p:nvPr/>
        </p:nvSpPr>
        <p:spPr>
          <a:xfrm>
            <a:off x="869950" y="5372100"/>
            <a:ext cx="4876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물가 상승 체감 </a:t>
            </a:r>
            <a:r>
              <a:rPr lang="en-US" altLang="ko-KR" sz="1150" b="1">
                <a:solidFill>
                  <a:srgbClr val="123B6D"/>
                </a:solidFill>
                <a:latin typeface="Malgun Gothic"/>
                <a:ea typeface="Malgun Gothic"/>
              </a:rPr>
              <a:t>94.1%  |  </a:t>
            </a:r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가격과 누적 금액 확인 필요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7383DF0-F237-4CC2-97DE-A100C0B2665B}"/>
              </a:ext>
            </a:extLst>
          </p:cNvPr>
          <p:cNvSpPr/>
          <p:nvPr/>
        </p:nvSpPr>
        <p:spPr>
          <a:xfrm>
            <a:off x="6280150" y="3835400"/>
            <a:ext cx="5207000" cy="1955800"/>
          </a:xfrm>
          <a:prstGeom prst="rect">
            <a:avLst/>
          </a:prstGeom>
          <a:solidFill>
            <a:srgbClr val="F7F9FC"/>
          </a:solidFill>
          <a:ln w="13970" cap="flat" cmpd="sng" algn="ctr">
            <a:solidFill>
              <a:srgbClr val="8AB6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EA13C6-9035-4E52-8D1B-2948C33887A7}"/>
              </a:ext>
            </a:extLst>
          </p:cNvPr>
          <p:cNvSpPr txBox="1"/>
          <p:nvPr/>
        </p:nvSpPr>
        <p:spPr>
          <a:xfrm>
            <a:off x="6445250" y="5372100"/>
            <a:ext cx="4876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편리성 </a:t>
            </a:r>
            <a:r>
              <a:rPr lang="en-US" altLang="ko-KR" sz="1150" b="1">
                <a:solidFill>
                  <a:srgbClr val="123B6D"/>
                </a:solidFill>
                <a:latin typeface="Malgun Gothic"/>
                <a:ea typeface="Malgun Gothic"/>
              </a:rPr>
              <a:t>42.3% · </a:t>
            </a:r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비용 절감 </a:t>
            </a:r>
            <a:r>
              <a:rPr lang="en-US" altLang="ko-KR" sz="1150" b="1">
                <a:solidFill>
                  <a:srgbClr val="123B6D"/>
                </a:solidFill>
                <a:latin typeface="Malgun Gothic"/>
                <a:ea typeface="Malgun Gothic"/>
              </a:rPr>
              <a:t>33.9%  |  </a:t>
            </a:r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레시피 추천 필요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A229C01B-A746-4D78-B257-E40FE1363D8D}"/>
              </a:ext>
            </a:extLst>
          </p:cNvPr>
          <p:cNvSpPr/>
          <p:nvPr/>
        </p:nvSpPr>
        <p:spPr>
          <a:xfrm>
            <a:off x="704850" y="5969000"/>
            <a:ext cx="10782300" cy="609600"/>
          </a:xfrm>
          <a:prstGeom prst="rect">
            <a:avLst/>
          </a:prstGeom>
          <a:solidFill>
            <a:srgbClr val="123B6D"/>
          </a:solidFill>
          <a:ln w="0" cap="flat" cmpd="sng" algn="ctr">
            <a:solidFill>
              <a:srgbClr val="123B6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865904-1A14-4E6C-A99B-0B9BA0628739}"/>
              </a:ext>
            </a:extLst>
          </p:cNvPr>
          <p:cNvSpPr txBox="1"/>
          <p:nvPr/>
        </p:nvSpPr>
        <p:spPr>
          <a:xfrm>
            <a:off x="1003300" y="6134100"/>
            <a:ext cx="10185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Malgun Gothic"/>
                <a:ea typeface="Malgun Gothic"/>
              </a:rPr>
              <a:t>데이터 분석 결과를  실시간 가격 확인 </a:t>
            </a:r>
            <a:r>
              <a:rPr lang="en-US" altLang="ko-KR" sz="1500" b="1">
                <a:solidFill>
                  <a:srgbClr val="FFFFFF"/>
                </a:solidFill>
                <a:latin typeface="Malgun Gothic"/>
                <a:ea typeface="Malgun Gothic"/>
              </a:rPr>
              <a:t>+ </a:t>
            </a:r>
            <a:r>
              <a:rPr lang="ko-KR" altLang="en-US" sz="1500" b="1">
                <a:solidFill>
                  <a:srgbClr val="FFFFFF"/>
                </a:solidFill>
                <a:latin typeface="Malgun Gothic"/>
                <a:ea typeface="Malgun Gothic"/>
              </a:rPr>
              <a:t>장바구니 관리 </a:t>
            </a:r>
            <a:r>
              <a:rPr lang="en-US" altLang="ko-KR" sz="1500" b="1">
                <a:solidFill>
                  <a:srgbClr val="FFFFFF"/>
                </a:solidFill>
                <a:latin typeface="Malgun Gothic"/>
                <a:ea typeface="Malgun Gothic"/>
              </a:rPr>
              <a:t>+ </a:t>
            </a:r>
            <a:r>
              <a:rPr lang="ko-KR" altLang="en-US" sz="1500" b="1">
                <a:solidFill>
                  <a:srgbClr val="FFFFFF"/>
                </a:solidFill>
                <a:latin typeface="Malgun Gothic"/>
                <a:ea typeface="Malgun Gothic"/>
              </a:rPr>
              <a:t>레시피 추천  기능으로 연결하였다</a:t>
            </a:r>
            <a:r>
              <a:rPr lang="en-US" altLang="ko-KR" sz="1500" b="1">
                <a:solidFill>
                  <a:srgbClr val="FFFFFF"/>
                </a:solidFill>
                <a:latin typeface="Malgun Gothic"/>
                <a:ea typeface="Malgun Gothic"/>
              </a:rPr>
              <a:t>.</a:t>
            </a:r>
            <a:endParaRPr lang="ko-KR" altLang="en-US" sz="15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pic>
        <p:nvPicPr>
          <p:cNvPr id="42" name="국내 1인 가구 증가 추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9790" y="1727200"/>
            <a:ext cx="2357120" cy="1473200"/>
          </a:xfrm>
          <a:prstGeom prst="rect">
            <a:avLst/>
          </a:prstGeom>
          <a:ln>
            <a:noFill/>
          </a:ln>
        </p:spPr>
      </p:pic>
      <p:pic>
        <p:nvPicPr>
          <p:cNvPr id="43" name="1인 가구의 주요 식품 구매처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5090" y="1727200"/>
            <a:ext cx="2357120" cy="1473200"/>
          </a:xfrm>
          <a:prstGeom prst="rect">
            <a:avLst/>
          </a:prstGeom>
          <a:ln>
            <a:noFill/>
          </a:ln>
        </p:spPr>
      </p:pic>
      <p:pic>
        <p:nvPicPr>
          <p:cNvPr id="44" name="전년 대비 식품 장바구니 물가 체감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24430" y="3860800"/>
            <a:ext cx="1767839" cy="1473200"/>
          </a:xfrm>
          <a:prstGeom prst="rect">
            <a:avLst/>
          </a:prstGeom>
          <a:ln>
            <a:noFill/>
          </a:ln>
        </p:spPr>
      </p:pic>
      <p:pic>
        <p:nvPicPr>
          <p:cNvPr id="45" name="1인 가구의 간편식 선택 이유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5090" y="3860800"/>
            <a:ext cx="2357120" cy="14732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7619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123B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04832" y="476250"/>
            <a:ext cx="20545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776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PROJECT OVERVIEW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832" y="781050"/>
            <a:ext cx="1028674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소개 및 핵심 기능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04832" y="1409700"/>
            <a:ext cx="10782030" cy="19050"/>
          </a:xfrm>
          <a:prstGeom prst="rect">
            <a:avLst/>
          </a:prstGeom>
          <a:solidFill>
            <a:srgbClr val="D7E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44FF0EA-3390-413F-9A2E-F7FAFDA28060}"/>
              </a:ext>
            </a:extLst>
          </p:cNvPr>
          <p:cNvSpPr/>
          <p:nvPr/>
        </p:nvSpPr>
        <p:spPr>
          <a:xfrm>
            <a:off x="704850" y="1676400"/>
            <a:ext cx="10782300" cy="1168400"/>
          </a:xfrm>
          <a:prstGeom prst="rect">
            <a:avLst/>
          </a:prstGeom>
          <a:solidFill>
            <a:srgbClr val="EEF5FC"/>
          </a:solidFill>
          <a:ln w="15240" cap="flat" cmpd="sng" algn="ctr">
            <a:solidFill>
              <a:srgbClr val="8AB6D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6EFF4F-568F-4140-B416-45DCDFF65CE7}"/>
              </a:ext>
            </a:extLst>
          </p:cNvPr>
          <p:cNvSpPr txBox="1"/>
          <p:nvPr/>
        </p:nvSpPr>
        <p:spPr>
          <a:xfrm>
            <a:off x="965200" y="1790700"/>
            <a:ext cx="102616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ko-KR" sz="1350" b="1">
                <a:solidFill>
                  <a:srgbClr val="123B6D"/>
                </a:solidFill>
                <a:latin typeface="Malgun Gothic"/>
                <a:ea typeface="Malgun Gothic"/>
              </a:rPr>
              <a:t>SMART CART</a:t>
            </a:r>
            <a:r>
              <a:rPr lang="ko-KR" altLang="en-US" sz="1350" b="1">
                <a:solidFill>
                  <a:srgbClr val="123B6D"/>
                </a:solidFill>
                <a:latin typeface="Malgun Gothic"/>
                <a:ea typeface="Malgun Gothic"/>
              </a:rPr>
              <a:t>는 </a:t>
            </a:r>
            <a:r>
              <a:rPr lang="en-US" altLang="ko-KR" sz="1350" b="1">
                <a:solidFill>
                  <a:srgbClr val="123B6D"/>
                </a:solidFill>
                <a:latin typeface="Malgun Gothic"/>
                <a:ea typeface="Malgun Gothic"/>
              </a:rPr>
              <a:t>AI </a:t>
            </a:r>
            <a:r>
              <a:rPr lang="ko-KR" altLang="en-US" sz="1350" b="1">
                <a:solidFill>
                  <a:srgbClr val="123B6D"/>
                </a:solidFill>
                <a:latin typeface="Malgun Gothic"/>
                <a:ea typeface="Malgun Gothic"/>
              </a:rPr>
              <a:t>상품 인식 결과를 가격</a:t>
            </a:r>
            <a:r>
              <a:rPr lang="en-US" altLang="ko-KR" sz="1350" b="1">
                <a:solidFill>
                  <a:srgbClr val="123B6D"/>
                </a:solidFill>
                <a:latin typeface="Malgun Gothic"/>
                <a:ea typeface="Malgun Gothic"/>
              </a:rPr>
              <a:t>·</a:t>
            </a:r>
            <a:r>
              <a:rPr lang="ko-KR" altLang="en-US" sz="1350" b="1">
                <a:solidFill>
                  <a:srgbClr val="123B6D"/>
                </a:solidFill>
                <a:latin typeface="Malgun Gothic"/>
                <a:ea typeface="Malgun Gothic"/>
              </a:rPr>
              <a:t>장바구니</a:t>
            </a:r>
            <a:r>
              <a:rPr lang="en-US" altLang="ko-KR" sz="1350" b="1">
                <a:solidFill>
                  <a:srgbClr val="123B6D"/>
                </a:solidFill>
                <a:latin typeface="Malgun Gothic"/>
                <a:ea typeface="Malgun Gothic"/>
              </a:rPr>
              <a:t>·</a:t>
            </a:r>
            <a:r>
              <a:rPr lang="ko-KR" altLang="en-US" sz="1350" b="1">
                <a:solidFill>
                  <a:srgbClr val="123B6D"/>
                </a:solidFill>
                <a:latin typeface="Malgun Gothic"/>
                <a:ea typeface="Malgun Gothic"/>
              </a:rPr>
              <a:t>레시피 기능으로 연결하는 스마트카트 프로토타입이다</a:t>
            </a:r>
            <a:r>
              <a:rPr lang="en-US" altLang="ko-KR" sz="1350" b="1">
                <a:solidFill>
                  <a:srgbClr val="123B6D"/>
                </a:solidFill>
                <a:latin typeface="Malgun Gothic"/>
                <a:ea typeface="Malgun Gothic"/>
              </a:rPr>
              <a:t>.</a:t>
            </a:r>
            <a:endParaRPr lang="ko-KR" altLang="en-US" sz="1350" b="1">
              <a:solidFill>
                <a:srgbClr val="123B6D"/>
              </a:solidFill>
              <a:latin typeface="Malgun Gothic"/>
              <a:ea typeface="Malgun Gothic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5FCF639-E71B-42D6-9E73-06F53E8311F6}"/>
              </a:ext>
            </a:extLst>
          </p:cNvPr>
          <p:cNvSpPr/>
          <p:nvPr/>
        </p:nvSpPr>
        <p:spPr>
          <a:xfrm>
            <a:off x="965200" y="2235200"/>
            <a:ext cx="1460500" cy="4572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9FC4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rmAutofit/>
          </a:bodyPr>
          <a:lstStyle/>
          <a:p>
            <a:pPr algn="l"/>
            <a:r>
              <a:rPr lang="en-US" altLang="ko-KR" sz="1050" b="1">
                <a:solidFill>
                  <a:srgbClr val="123B6D"/>
                </a:solidFill>
                <a:latin typeface="Malgun Gothic"/>
                <a:ea typeface="Malgun Gothic"/>
              </a:rPr>
              <a:t>Camera</a:t>
            </a:r>
            <a:endParaRPr lang="ko-KR" altLang="en-US" sz="1050" b="1">
              <a:solidFill>
                <a:srgbClr val="123B6D"/>
              </a:solidFill>
              <a:latin typeface="Malgun Gothic"/>
              <a:ea typeface="Malgun Gothic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8D13B7-BEF8-468A-9376-5D62079B359C}"/>
              </a:ext>
            </a:extLst>
          </p:cNvPr>
          <p:cNvSpPr txBox="1"/>
          <p:nvPr/>
        </p:nvSpPr>
        <p:spPr>
          <a:xfrm>
            <a:off x="2489200" y="2286000"/>
            <a:ext cx="3175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ko-KR" altLang="en-US" sz="1700" b="1">
                <a:solidFill>
                  <a:srgbClr val="2776C8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03A7479-6B15-43C3-A39C-0A2E405B3B77}"/>
              </a:ext>
            </a:extLst>
          </p:cNvPr>
          <p:cNvSpPr/>
          <p:nvPr/>
        </p:nvSpPr>
        <p:spPr>
          <a:xfrm>
            <a:off x="2870200" y="2235200"/>
            <a:ext cx="1714500" cy="457200"/>
          </a:xfrm>
          <a:prstGeom prst="rect">
            <a:avLst/>
          </a:prstGeom>
          <a:solidFill>
            <a:srgbClr val="2776C8"/>
          </a:solidFill>
          <a:ln w="13970" cap="flat" cmpd="sng" algn="ctr">
            <a:solidFill>
              <a:srgbClr val="2776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rmAutofit/>
          </a:bodyPr>
          <a:lstStyle/>
          <a:p>
            <a:pPr algn="l"/>
            <a:r>
              <a:rPr lang="en-US" altLang="ko-KR" sz="1050" b="1">
                <a:solidFill>
                  <a:srgbClr val="FFFFFF"/>
                </a:solidFill>
                <a:latin typeface="Malgun Gothic"/>
                <a:ea typeface="Malgun Gothic"/>
              </a:rPr>
              <a:t>Product Detection</a:t>
            </a:r>
            <a:endParaRPr lang="ko-KR" altLang="en-US" sz="105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BB2A3B-DE1C-4D9B-88DA-422FFF5EA442}"/>
              </a:ext>
            </a:extLst>
          </p:cNvPr>
          <p:cNvSpPr txBox="1"/>
          <p:nvPr/>
        </p:nvSpPr>
        <p:spPr>
          <a:xfrm>
            <a:off x="4648200" y="2286000"/>
            <a:ext cx="3175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ko-KR" altLang="en-US" sz="1700" b="1">
                <a:solidFill>
                  <a:srgbClr val="2776C8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8FFF7269-2787-45BE-95A4-2A55F5E7ADBF}"/>
              </a:ext>
            </a:extLst>
          </p:cNvPr>
          <p:cNvSpPr/>
          <p:nvPr/>
        </p:nvSpPr>
        <p:spPr>
          <a:xfrm>
            <a:off x="5029200" y="2235200"/>
            <a:ext cx="1460500" cy="4572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9FC4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rmAutofit/>
          </a:bodyPr>
          <a:lstStyle/>
          <a:p>
            <a:pPr algn="l"/>
            <a:r>
              <a:rPr lang="en-US" altLang="ko-KR" sz="1050" b="1">
                <a:solidFill>
                  <a:srgbClr val="123B6D"/>
                </a:solidFill>
                <a:latin typeface="Malgun Gothic"/>
                <a:ea typeface="Malgun Gothic"/>
              </a:rPr>
              <a:t>Product DB</a:t>
            </a:r>
            <a:endParaRPr lang="ko-KR" altLang="en-US" sz="1050" b="1">
              <a:solidFill>
                <a:srgbClr val="123B6D"/>
              </a:solidFill>
              <a:latin typeface="Malgun Gothic"/>
              <a:ea typeface="Malgun Gothic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FCBAA9-9022-4336-97E8-6A814EFA4F1E}"/>
              </a:ext>
            </a:extLst>
          </p:cNvPr>
          <p:cNvSpPr txBox="1"/>
          <p:nvPr/>
        </p:nvSpPr>
        <p:spPr>
          <a:xfrm>
            <a:off x="6553200" y="2286000"/>
            <a:ext cx="3175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ko-KR" altLang="en-US" sz="1700" b="1">
                <a:solidFill>
                  <a:srgbClr val="2776C8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E1307EE-E0D4-4F85-B0D6-D6E96F1C438F}"/>
              </a:ext>
            </a:extLst>
          </p:cNvPr>
          <p:cNvSpPr/>
          <p:nvPr/>
        </p:nvSpPr>
        <p:spPr>
          <a:xfrm>
            <a:off x="6934200" y="2235200"/>
            <a:ext cx="1714500" cy="4572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9FC4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rmAutofit/>
          </a:bodyPr>
          <a:lstStyle/>
          <a:p>
            <a:pPr algn="l"/>
            <a:r>
              <a:rPr lang="en-US" altLang="ko-KR" sz="1050" b="1">
                <a:solidFill>
                  <a:srgbClr val="123B6D"/>
                </a:solidFill>
                <a:latin typeface="Malgun Gothic"/>
                <a:ea typeface="Malgun Gothic"/>
              </a:rPr>
              <a:t>Shopping Cart</a:t>
            </a:r>
            <a:endParaRPr lang="ko-KR" altLang="en-US" sz="1050" b="1">
              <a:solidFill>
                <a:srgbClr val="123B6D"/>
              </a:solidFill>
              <a:latin typeface="Malgun Gothic"/>
              <a:ea typeface="Malgun Gothic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B7C0D2-3EE9-4756-945F-BE18EB92C4E1}"/>
              </a:ext>
            </a:extLst>
          </p:cNvPr>
          <p:cNvSpPr txBox="1"/>
          <p:nvPr/>
        </p:nvSpPr>
        <p:spPr>
          <a:xfrm>
            <a:off x="8712200" y="2286000"/>
            <a:ext cx="3175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ko-KR" altLang="en-US" sz="1700" b="1">
                <a:solidFill>
                  <a:srgbClr val="2776C8"/>
                </a:solidFill>
                <a:latin typeface="Malgun Gothic"/>
                <a:ea typeface="Malgun Gothic"/>
              </a:rPr>
              <a:t>→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3587FB2-78FE-4477-B111-17640D5AC03E}"/>
              </a:ext>
            </a:extLst>
          </p:cNvPr>
          <p:cNvSpPr/>
          <p:nvPr/>
        </p:nvSpPr>
        <p:spPr>
          <a:xfrm>
            <a:off x="9093200" y="2235200"/>
            <a:ext cx="2095500" cy="4572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9FC4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rmAutofit/>
          </a:bodyPr>
          <a:lstStyle/>
          <a:p>
            <a:pPr algn="l"/>
            <a:r>
              <a:rPr lang="en-US" altLang="ko-KR" sz="950" b="1">
                <a:solidFill>
                  <a:srgbClr val="123B6D"/>
                </a:solidFill>
                <a:latin typeface="Malgun Gothic"/>
                <a:ea typeface="Malgun Gothic"/>
              </a:rPr>
              <a:t>Recipe Recommendation</a:t>
            </a:r>
            <a:endParaRPr lang="ko-KR" altLang="en-US" sz="950" b="1">
              <a:solidFill>
                <a:srgbClr val="123B6D"/>
              </a:solidFill>
              <a:latin typeface="Malgun Gothic"/>
              <a:ea typeface="Malgun Gothic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EC034F6-E695-41E2-8F42-52A9415AAC27}"/>
              </a:ext>
            </a:extLst>
          </p:cNvPr>
          <p:cNvSpPr/>
          <p:nvPr/>
        </p:nvSpPr>
        <p:spPr>
          <a:xfrm>
            <a:off x="704850" y="3035300"/>
            <a:ext cx="5314950" cy="11684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B7D0E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A0D2BEF-0734-41D2-828B-E4B5A6915624}"/>
              </a:ext>
            </a:extLst>
          </p:cNvPr>
          <p:cNvSpPr/>
          <p:nvPr/>
        </p:nvSpPr>
        <p:spPr>
          <a:xfrm>
            <a:off x="920750" y="3251200"/>
            <a:ext cx="431800" cy="431800"/>
          </a:xfrm>
          <a:prstGeom prst="rect">
            <a:avLst/>
          </a:prstGeom>
          <a:solidFill>
            <a:srgbClr val="123B6D"/>
          </a:solidFill>
          <a:ln w="0" cap="flat" cmpd="sng" algn="ctr">
            <a:solidFill>
              <a:srgbClr val="123B6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01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FCD014-3A5F-46D5-AF54-97851C13FF02}"/>
              </a:ext>
            </a:extLst>
          </p:cNvPr>
          <p:cNvSpPr txBox="1"/>
          <p:nvPr/>
        </p:nvSpPr>
        <p:spPr>
          <a:xfrm>
            <a:off x="1530350" y="3200400"/>
            <a:ext cx="41275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altLang="ko-KR" sz="1600" b="1">
                <a:solidFill>
                  <a:srgbClr val="0B1F3A"/>
                </a:solidFill>
                <a:latin typeface="Malgun Gothic"/>
                <a:ea typeface="Malgun Gothic"/>
              </a:rPr>
              <a:t>AI </a:t>
            </a:r>
            <a:r>
              <a:rPr lang="ko-KR" altLang="en-US" sz="1600" b="1">
                <a:solidFill>
                  <a:srgbClr val="0B1F3A"/>
                </a:solidFill>
                <a:latin typeface="Malgun Gothic"/>
                <a:ea typeface="Malgun Gothic"/>
              </a:rPr>
              <a:t>상품 인식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D0FB3C-49C1-4F8F-BD43-B52A101666F3}"/>
              </a:ext>
            </a:extLst>
          </p:cNvPr>
          <p:cNvSpPr txBox="1"/>
          <p:nvPr/>
        </p:nvSpPr>
        <p:spPr>
          <a:xfrm>
            <a:off x="1530350" y="3581400"/>
            <a:ext cx="41275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ko-KR" sz="1200">
                <a:solidFill>
                  <a:srgbClr val="5F7891"/>
                </a:solidFill>
                <a:latin typeface="Malgun Gothic"/>
                <a:ea typeface="Malgun Gothic"/>
              </a:rPr>
              <a:t>YOLO Object Detection
10</a:t>
            </a:r>
            <a:r>
              <a:rPr lang="ko-KR" altLang="en-US" sz="1200">
                <a:solidFill>
                  <a:srgbClr val="5F7891"/>
                </a:solidFill>
                <a:latin typeface="Malgun Gothic"/>
                <a:ea typeface="Malgun Gothic"/>
              </a:rPr>
              <a:t>개 상품 클래스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FAB4511-49A5-4619-BC6D-F251CC7507B6}"/>
              </a:ext>
            </a:extLst>
          </p:cNvPr>
          <p:cNvSpPr/>
          <p:nvPr/>
        </p:nvSpPr>
        <p:spPr>
          <a:xfrm>
            <a:off x="6172200" y="3035300"/>
            <a:ext cx="5314950" cy="11684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B7D0E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37146FF-3EE3-4334-8377-380A4138516D}"/>
              </a:ext>
            </a:extLst>
          </p:cNvPr>
          <p:cNvSpPr/>
          <p:nvPr/>
        </p:nvSpPr>
        <p:spPr>
          <a:xfrm>
            <a:off x="6388100" y="3251200"/>
            <a:ext cx="431800" cy="431800"/>
          </a:xfrm>
          <a:prstGeom prst="rect">
            <a:avLst/>
          </a:prstGeom>
          <a:solidFill>
            <a:srgbClr val="123B6D"/>
          </a:solidFill>
          <a:ln w="0" cap="flat" cmpd="sng" algn="ctr">
            <a:solidFill>
              <a:srgbClr val="123B6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02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D48EFAC-C473-40F8-BC55-28E4DECC8D44}"/>
              </a:ext>
            </a:extLst>
          </p:cNvPr>
          <p:cNvSpPr txBox="1"/>
          <p:nvPr/>
        </p:nvSpPr>
        <p:spPr>
          <a:xfrm>
            <a:off x="6997700" y="3200400"/>
            <a:ext cx="41275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ko-KR" altLang="en-US" sz="1600" b="1">
                <a:solidFill>
                  <a:srgbClr val="0B1F3A"/>
                </a:solidFill>
                <a:latin typeface="Malgun Gothic"/>
                <a:ea typeface="Malgun Gothic"/>
              </a:rPr>
              <a:t>장바구니 관리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CB2040-302C-4BD3-8BF7-99E198A92384}"/>
              </a:ext>
            </a:extLst>
          </p:cNvPr>
          <p:cNvSpPr txBox="1"/>
          <p:nvPr/>
        </p:nvSpPr>
        <p:spPr>
          <a:xfrm>
            <a:off x="6997700" y="3581400"/>
            <a:ext cx="41275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200">
                <a:solidFill>
                  <a:srgbClr val="5F7891"/>
                </a:solidFill>
                <a:latin typeface="Malgun Gothic"/>
                <a:ea typeface="Malgun Gothic"/>
              </a:rPr>
              <a:t>인식 상품 자동 등록
상품명 </a:t>
            </a:r>
            <a:r>
              <a:rPr lang="en-US" altLang="ko-KR" sz="1200">
                <a:solidFill>
                  <a:srgbClr val="5F7891"/>
                </a:solidFill>
                <a:latin typeface="Malgun Gothic"/>
                <a:ea typeface="Malgun Gothic"/>
              </a:rPr>
              <a:t>· </a:t>
            </a:r>
            <a:r>
              <a:rPr lang="ko-KR" altLang="en-US" sz="1200">
                <a:solidFill>
                  <a:srgbClr val="5F7891"/>
                </a:solidFill>
                <a:latin typeface="Malgun Gothic"/>
                <a:ea typeface="Malgun Gothic"/>
              </a:rPr>
              <a:t>가격 </a:t>
            </a:r>
            <a:r>
              <a:rPr lang="en-US" altLang="ko-KR" sz="1200">
                <a:solidFill>
                  <a:srgbClr val="5F7891"/>
                </a:solidFill>
                <a:latin typeface="Malgun Gothic"/>
                <a:ea typeface="Malgun Gothic"/>
              </a:rPr>
              <a:t>· </a:t>
            </a:r>
            <a:r>
              <a:rPr lang="ko-KR" altLang="en-US" sz="1200">
                <a:solidFill>
                  <a:srgbClr val="5F7891"/>
                </a:solidFill>
                <a:latin typeface="Malgun Gothic"/>
                <a:ea typeface="Malgun Gothic"/>
              </a:rPr>
              <a:t>수량 표시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DD22A14-318F-44FC-AD46-7284A3A35D44}"/>
              </a:ext>
            </a:extLst>
          </p:cNvPr>
          <p:cNvSpPr/>
          <p:nvPr/>
        </p:nvSpPr>
        <p:spPr>
          <a:xfrm>
            <a:off x="704850" y="4394200"/>
            <a:ext cx="5314950" cy="11684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B7D0E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BD4F595-6C01-4ABA-A51E-242B1E27D748}"/>
              </a:ext>
            </a:extLst>
          </p:cNvPr>
          <p:cNvSpPr/>
          <p:nvPr/>
        </p:nvSpPr>
        <p:spPr>
          <a:xfrm>
            <a:off x="920750" y="4610100"/>
            <a:ext cx="431800" cy="431800"/>
          </a:xfrm>
          <a:prstGeom prst="rect">
            <a:avLst/>
          </a:prstGeom>
          <a:solidFill>
            <a:srgbClr val="123B6D"/>
          </a:solidFill>
          <a:ln w="0" cap="flat" cmpd="sng" algn="ctr">
            <a:solidFill>
              <a:srgbClr val="123B6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03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852801B-9CEB-449A-BE94-D65CDC05F62C}"/>
              </a:ext>
            </a:extLst>
          </p:cNvPr>
          <p:cNvSpPr txBox="1"/>
          <p:nvPr/>
        </p:nvSpPr>
        <p:spPr>
          <a:xfrm>
            <a:off x="1530350" y="4559300"/>
            <a:ext cx="41275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ko-KR" altLang="en-US" sz="1600" b="1">
                <a:solidFill>
                  <a:srgbClr val="0B1F3A"/>
                </a:solidFill>
                <a:latin typeface="Malgun Gothic"/>
                <a:ea typeface="Malgun Gothic"/>
              </a:rPr>
              <a:t>실시간 총 금액 계산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1A2690-0361-4455-A10D-7BE97ACF2B49}"/>
              </a:ext>
            </a:extLst>
          </p:cNvPr>
          <p:cNvSpPr txBox="1"/>
          <p:nvPr/>
        </p:nvSpPr>
        <p:spPr>
          <a:xfrm>
            <a:off x="1530350" y="4940300"/>
            <a:ext cx="41275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ko-KR" sz="1200">
                <a:solidFill>
                  <a:srgbClr val="5F7891"/>
                </a:solidFill>
                <a:latin typeface="Malgun Gothic"/>
                <a:ea typeface="Malgun Gothic"/>
              </a:rPr>
              <a:t>SQLite </a:t>
            </a:r>
            <a:r>
              <a:rPr lang="ko-KR" altLang="en-US" sz="1200">
                <a:solidFill>
                  <a:srgbClr val="5F7891"/>
                </a:solidFill>
                <a:latin typeface="Malgun Gothic"/>
                <a:ea typeface="Malgun Gothic"/>
              </a:rPr>
              <a:t>가격 정보 조회
장바구니 누적 금액 표시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39C4C37-0029-4FBF-B940-F62EF37B9CB2}"/>
              </a:ext>
            </a:extLst>
          </p:cNvPr>
          <p:cNvSpPr/>
          <p:nvPr/>
        </p:nvSpPr>
        <p:spPr>
          <a:xfrm>
            <a:off x="6172200" y="4394200"/>
            <a:ext cx="5314950" cy="11684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B7D0E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ED1A43A-5A96-4244-9DCD-6DAF05A9FB00}"/>
              </a:ext>
            </a:extLst>
          </p:cNvPr>
          <p:cNvSpPr/>
          <p:nvPr/>
        </p:nvSpPr>
        <p:spPr>
          <a:xfrm>
            <a:off x="6388100" y="4610100"/>
            <a:ext cx="431800" cy="431800"/>
          </a:xfrm>
          <a:prstGeom prst="rect">
            <a:avLst/>
          </a:prstGeom>
          <a:solidFill>
            <a:srgbClr val="123B6D"/>
          </a:solidFill>
          <a:ln w="0" cap="flat" cmpd="sng" algn="ctr">
            <a:solidFill>
              <a:srgbClr val="123B6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rmAutofit/>
          </a:bodyPr>
          <a:lstStyle/>
          <a:p>
            <a:pPr algn="l"/>
            <a:r>
              <a:rPr lang="en-US" altLang="ko-KR" sz="1100" b="1">
                <a:solidFill>
                  <a:srgbClr val="FFFFFF"/>
                </a:solidFill>
                <a:latin typeface="Malgun Gothic"/>
                <a:ea typeface="Malgun Gothic"/>
              </a:rPr>
              <a:t>04</a:t>
            </a:r>
            <a:endParaRPr lang="ko-KR" altLang="en-US" sz="11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F6840A-DDF6-4411-9E57-64BF1F9E3486}"/>
              </a:ext>
            </a:extLst>
          </p:cNvPr>
          <p:cNvSpPr txBox="1"/>
          <p:nvPr/>
        </p:nvSpPr>
        <p:spPr>
          <a:xfrm>
            <a:off x="6997700" y="4559300"/>
            <a:ext cx="41275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ko-KR" altLang="en-US" sz="1600" b="1">
                <a:solidFill>
                  <a:srgbClr val="0B1F3A"/>
                </a:solidFill>
                <a:latin typeface="Malgun Gothic"/>
                <a:ea typeface="Malgun Gothic"/>
              </a:rPr>
              <a:t>레시피 추천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DAC6818-20EE-4E8A-81C3-40CDDBCDA32A}"/>
              </a:ext>
            </a:extLst>
          </p:cNvPr>
          <p:cNvSpPr txBox="1"/>
          <p:nvPr/>
        </p:nvSpPr>
        <p:spPr>
          <a:xfrm>
            <a:off x="6997700" y="4940300"/>
            <a:ext cx="4127500" cy="482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200">
                <a:solidFill>
                  <a:srgbClr val="5F7891"/>
                </a:solidFill>
                <a:latin typeface="Malgun Gothic"/>
                <a:ea typeface="Malgun Gothic"/>
              </a:rPr>
              <a:t>보유 재료와 필요 재료 비교
재료 충족률 기반 추천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7F9B60D-F34F-4C8F-87B0-E6EF9902BE2E}"/>
              </a:ext>
            </a:extLst>
          </p:cNvPr>
          <p:cNvSpPr/>
          <p:nvPr/>
        </p:nvSpPr>
        <p:spPr>
          <a:xfrm>
            <a:off x="704850" y="5880100"/>
            <a:ext cx="10782300" cy="609600"/>
          </a:xfrm>
          <a:prstGeom prst="rect">
            <a:avLst/>
          </a:prstGeom>
          <a:solidFill>
            <a:srgbClr val="123B6D"/>
          </a:solidFill>
          <a:ln w="0" cap="flat" cmpd="sng" algn="ctr">
            <a:solidFill>
              <a:srgbClr val="123B6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F70D347-9FB3-438F-A4A9-D5134E1DB413}"/>
              </a:ext>
            </a:extLst>
          </p:cNvPr>
          <p:cNvSpPr txBox="1"/>
          <p:nvPr/>
        </p:nvSpPr>
        <p:spPr>
          <a:xfrm>
            <a:off x="1003300" y="6019800"/>
            <a:ext cx="101854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en-US" altLang="ko-KR" sz="1500" b="1">
                <a:solidFill>
                  <a:srgbClr val="FFFFFF"/>
                </a:solidFill>
                <a:latin typeface="Malgun Gothic"/>
                <a:ea typeface="Malgun Gothic"/>
              </a:rPr>
              <a:t>YOLO Detection </a:t>
            </a:r>
            <a:r>
              <a:rPr lang="ko-KR" altLang="en-US" sz="1500" b="1">
                <a:solidFill>
                  <a:srgbClr val="FFFFFF"/>
                </a:solidFill>
                <a:latin typeface="Malgun Gothic"/>
                <a:ea typeface="Malgun Gothic"/>
              </a:rPr>
              <a:t>결과를 실제 서비스 기능까지 연결하는 </a:t>
            </a:r>
            <a:r>
              <a:rPr lang="en-US" altLang="ko-KR" sz="1500" b="1">
                <a:solidFill>
                  <a:srgbClr val="FFFFFF"/>
                </a:solidFill>
                <a:latin typeface="Malgun Gothic"/>
                <a:ea typeface="Malgun Gothic"/>
              </a:rPr>
              <a:t>End-to-End </a:t>
            </a:r>
            <a:r>
              <a:rPr lang="ko-KR" altLang="en-US" sz="1500" b="1">
                <a:solidFill>
                  <a:srgbClr val="FFFFFF"/>
                </a:solidFill>
                <a:latin typeface="Malgun Gothic"/>
                <a:ea typeface="Malgun Gothic"/>
              </a:rPr>
              <a:t>시스템 구현</a:t>
            </a:r>
          </a:p>
        </p:txBody>
      </p:sp>
    </p:spTree>
    <p:extLst>
      <p:ext uri="{BB962C8B-B14F-4D97-AF65-F5344CB8AC3E}">
        <p14:creationId xmlns:p14="http://schemas.microsoft.com/office/powerpoint/2010/main" val="4113197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OLO 모델 성능 개선 과정 이미지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71450"/>
            <a:ext cx="11582400" cy="6515100"/>
          </a:xfrm>
          <a:prstGeom prst="rect">
            <a:avLst/>
          </a:prstGeom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C0B0B952-62DC-4DA4-BD42-755236F3D8FC}"/>
              </a:ext>
            </a:extLst>
          </p:cNvPr>
          <p:cNvSpPr/>
          <p:nvPr/>
        </p:nvSpPr>
        <p:spPr>
          <a:xfrm>
            <a:off x="431800" y="927100"/>
            <a:ext cx="11328400" cy="393700"/>
          </a:xfrm>
          <a:prstGeom prst="rect">
            <a:avLst/>
          </a:prstGeom>
          <a:solidFill>
            <a:srgbClr val="FFFFFF"/>
          </a:solidFill>
          <a:ln w="10160" cap="flat" cmpd="sng" algn="ctr">
            <a:solidFill>
              <a:srgbClr val="D7E7F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15F1E3-F6EA-4468-95A8-B635F7BF5B8D}"/>
              </a:ext>
            </a:extLst>
          </p:cNvPr>
          <p:cNvSpPr txBox="1"/>
          <p:nvPr/>
        </p:nvSpPr>
        <p:spPr>
          <a:xfrm>
            <a:off x="609600" y="977900"/>
            <a:ext cx="10972800" cy="2921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ko-KR" altLang="en-US" sz="1350" b="1">
                <a:solidFill>
                  <a:srgbClr val="173B72"/>
                </a:solidFill>
                <a:latin typeface="Malgun Gothic"/>
                <a:ea typeface="Malgun Gothic"/>
              </a:rPr>
              <a:t>데이터셋 </a:t>
            </a:r>
            <a:r>
              <a:rPr lang="en-US" altLang="ko-KR" sz="1350" b="1">
                <a:solidFill>
                  <a:srgbClr val="173B72"/>
                </a:solidFill>
                <a:latin typeface="Malgun Gothic"/>
                <a:ea typeface="Malgun Gothic"/>
              </a:rPr>
              <a:t>Split</a:t>
            </a:r>
            <a:r>
              <a:rPr lang="ko-KR" altLang="en-US" sz="1350" b="1">
                <a:solidFill>
                  <a:srgbClr val="173B72"/>
                </a:solidFill>
                <a:latin typeface="Malgun Gothic"/>
                <a:ea typeface="Malgun Gothic"/>
              </a:rPr>
              <a:t>과 </a:t>
            </a:r>
            <a:r>
              <a:rPr lang="en-US" altLang="ko-KR" sz="1350" b="1">
                <a:solidFill>
                  <a:srgbClr val="173B72"/>
                </a:solidFill>
                <a:latin typeface="Malgun Gothic"/>
                <a:ea typeface="Malgun Gothic"/>
              </a:rPr>
              <a:t>Augmentation </a:t>
            </a:r>
            <a:r>
              <a:rPr lang="ko-KR" altLang="en-US" sz="1350" b="1">
                <a:solidFill>
                  <a:srgbClr val="173B72"/>
                </a:solidFill>
                <a:latin typeface="Malgun Gothic"/>
                <a:ea typeface="Malgun Gothic"/>
              </a:rPr>
              <a:t>조건을 반복적으로 조정하여 </a:t>
            </a:r>
            <a:r>
              <a:rPr lang="en-US" altLang="ko-KR" sz="1350" b="1">
                <a:solidFill>
                  <a:srgbClr val="173B72"/>
                </a:solidFill>
                <a:latin typeface="Malgun Gothic"/>
                <a:ea typeface="Malgun Gothic"/>
              </a:rPr>
              <a:t>Validation mAP@50 </a:t>
            </a:r>
            <a:r>
              <a:rPr lang="ko-KR" altLang="en-US" sz="1350" b="1">
                <a:solidFill>
                  <a:srgbClr val="173B72"/>
                </a:solidFill>
                <a:latin typeface="Malgun Gothic"/>
                <a:ea typeface="Malgun Gothic"/>
              </a:rPr>
              <a:t>목표 </a:t>
            </a:r>
            <a:r>
              <a:rPr lang="en-US" altLang="ko-KR" sz="1350" b="1">
                <a:solidFill>
                  <a:srgbClr val="173B72"/>
                </a:solidFill>
                <a:latin typeface="Malgun Gothic"/>
                <a:ea typeface="Malgun Gothic"/>
              </a:rPr>
              <a:t>80%</a:t>
            </a:r>
            <a:r>
              <a:rPr lang="ko-KR" altLang="en-US" sz="1350" b="1">
                <a:solidFill>
                  <a:srgbClr val="173B72"/>
                </a:solidFill>
                <a:latin typeface="Malgun Gothic"/>
                <a:ea typeface="Malgun Gothic"/>
              </a:rPr>
              <a:t>를 달성하였다</a:t>
            </a:r>
            <a:r>
              <a:rPr lang="en-US" altLang="ko-KR" sz="1350" b="1">
                <a:solidFill>
                  <a:srgbClr val="173B72"/>
                </a:solidFill>
                <a:latin typeface="Malgun Gothic"/>
                <a:ea typeface="Malgun Gothic"/>
              </a:rPr>
              <a:t>.</a:t>
            </a:r>
            <a:endParaRPr lang="ko-KR" altLang="en-US" sz="1350" b="1">
              <a:solidFill>
                <a:srgbClr val="173B72"/>
              </a:solidFill>
              <a:latin typeface="Malgun Gothic"/>
              <a:ea typeface="Malgun Gothic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80A584-FE88-4169-80BB-AE2CBDE0FFDD}"/>
              </a:ext>
            </a:extLst>
          </p:cNvPr>
          <p:cNvSpPr/>
          <p:nvPr/>
        </p:nvSpPr>
        <p:spPr>
          <a:xfrm>
            <a:off x="6350000" y="6550025"/>
            <a:ext cx="5334000" cy="279400"/>
          </a:xfrm>
          <a:prstGeom prst="rect">
            <a:avLst/>
          </a:prstGeom>
          <a:solidFill>
            <a:srgbClr val="EDF5FD"/>
          </a:solidFill>
          <a:ln w="8890" cap="flat" cmpd="sng" algn="ctr">
            <a:solidFill>
              <a:srgbClr val="AFCB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FF0FCA-8E5C-4F95-A34C-C9C6053DB3A8}"/>
              </a:ext>
            </a:extLst>
          </p:cNvPr>
          <p:cNvSpPr txBox="1"/>
          <p:nvPr/>
        </p:nvSpPr>
        <p:spPr>
          <a:xfrm>
            <a:off x="6477000" y="6588125"/>
            <a:ext cx="5080000" cy="190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20000"/>
          </a:bodyPr>
          <a:lstStyle/>
          <a:p>
            <a:pPr algn="l"/>
            <a:r>
              <a:rPr lang="ko-KR" altLang="en-US" sz="850" dirty="0">
                <a:solidFill>
                  <a:srgbClr val="385A7A"/>
                </a:solidFill>
                <a:latin typeface="Malgun Gothic"/>
                <a:ea typeface="Malgun Gothic"/>
              </a:rPr>
              <a:t>향후 더 큰 독립 </a:t>
            </a:r>
            <a:r>
              <a:rPr lang="en-US" altLang="ko-KR" sz="850" dirty="0">
                <a:solidFill>
                  <a:srgbClr val="385A7A"/>
                </a:solidFill>
                <a:latin typeface="Malgun Gothic"/>
                <a:ea typeface="Malgun Gothic"/>
              </a:rPr>
              <a:t>Test Set</a:t>
            </a:r>
            <a:r>
              <a:rPr lang="ko-KR" altLang="en-US" sz="850" dirty="0">
                <a:solidFill>
                  <a:srgbClr val="385A7A"/>
                </a:solidFill>
                <a:latin typeface="Malgun Gothic"/>
                <a:ea typeface="Malgun Gothic"/>
              </a:rPr>
              <a:t>과 실제 카트 환경 데이터를 이용한 추가 검증 필요</a:t>
            </a:r>
          </a:p>
        </p:txBody>
      </p:sp>
    </p:spTree>
    <p:extLst>
      <p:ext uri="{BB962C8B-B14F-4D97-AF65-F5344CB8AC3E}">
        <p14:creationId xmlns:p14="http://schemas.microsoft.com/office/powerpoint/2010/main" val="4094042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MART CART 시스템 아키텍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F2C23414-C5C8-44E2-8FC8-7DA078636995}"/>
              </a:ext>
            </a:extLst>
          </p:cNvPr>
          <p:cNvSpPr/>
          <p:nvPr/>
        </p:nvSpPr>
        <p:spPr>
          <a:xfrm>
            <a:off x="698500" y="1155700"/>
            <a:ext cx="3429000" cy="254000"/>
          </a:xfrm>
          <a:prstGeom prst="rect">
            <a:avLst/>
          </a:prstGeom>
          <a:solidFill>
            <a:srgbClr val="F3F8FD"/>
          </a:solidFill>
          <a:ln w="8890" cap="flat" cmpd="sng" algn="ctr">
            <a:solidFill>
              <a:srgbClr val="B8D3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610C8-C921-42F9-B552-E85FAC3456B0}"/>
              </a:ext>
            </a:extLst>
          </p:cNvPr>
          <p:cNvSpPr txBox="1"/>
          <p:nvPr/>
        </p:nvSpPr>
        <p:spPr>
          <a:xfrm>
            <a:off x="787400" y="1193800"/>
            <a:ext cx="32512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en-US" altLang="ko-KR" sz="850" b="1">
                <a:solidFill>
                  <a:srgbClr val="174B82"/>
                </a:solidFill>
                <a:latin typeface="Malgun Gothic"/>
                <a:ea typeface="Malgun Gothic"/>
              </a:rPr>
              <a:t>CameraWorker · InferenceWorker </a:t>
            </a:r>
            <a:r>
              <a:rPr lang="ko-KR" altLang="en-US" sz="850" b="1">
                <a:solidFill>
                  <a:srgbClr val="174B82"/>
                </a:solidFill>
                <a:latin typeface="Malgun Gothic"/>
                <a:ea typeface="Malgun Gothic"/>
              </a:rPr>
              <a:t>분리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3AD338E-5B49-4107-9374-F19FAD872460}"/>
              </a:ext>
            </a:extLst>
          </p:cNvPr>
          <p:cNvSpPr/>
          <p:nvPr/>
        </p:nvSpPr>
        <p:spPr>
          <a:xfrm>
            <a:off x="4381500" y="1155700"/>
            <a:ext cx="3429000" cy="254000"/>
          </a:xfrm>
          <a:prstGeom prst="rect">
            <a:avLst/>
          </a:prstGeom>
          <a:solidFill>
            <a:srgbClr val="F3F8FD"/>
          </a:solidFill>
          <a:ln w="8890" cap="flat" cmpd="sng" algn="ctr">
            <a:solidFill>
              <a:srgbClr val="B8D3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64D554-AFC1-42FC-B2D7-CB760BFA1600}"/>
              </a:ext>
            </a:extLst>
          </p:cNvPr>
          <p:cNvSpPr txBox="1"/>
          <p:nvPr/>
        </p:nvSpPr>
        <p:spPr>
          <a:xfrm>
            <a:off x="4470400" y="1193800"/>
            <a:ext cx="32512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en-US" altLang="ko-KR" sz="850" b="1">
                <a:solidFill>
                  <a:srgbClr val="174B82"/>
                </a:solidFill>
                <a:latin typeface="Malgun Gothic"/>
                <a:ea typeface="Malgun Gothic"/>
              </a:rPr>
              <a:t>Roboflow Hosted Inference</a:t>
            </a:r>
            <a:r>
              <a:rPr lang="ko-KR" altLang="en-US" sz="850" b="1">
                <a:solidFill>
                  <a:srgbClr val="174B82"/>
                </a:solidFill>
                <a:latin typeface="Malgun Gothic"/>
                <a:ea typeface="Malgun Gothic"/>
              </a:rPr>
              <a:t>로 </a:t>
            </a:r>
            <a:r>
              <a:rPr lang="en-US" altLang="ko-KR" sz="850" b="1">
                <a:solidFill>
                  <a:srgbClr val="174B82"/>
                </a:solidFill>
                <a:latin typeface="Malgun Gothic"/>
                <a:ea typeface="Malgun Gothic"/>
              </a:rPr>
              <a:t>YOLO </a:t>
            </a:r>
            <a:r>
              <a:rPr lang="ko-KR" altLang="en-US" sz="850" b="1">
                <a:solidFill>
                  <a:srgbClr val="174B82"/>
                </a:solidFill>
                <a:latin typeface="Malgun Gothic"/>
                <a:ea typeface="Malgun Gothic"/>
              </a:rPr>
              <a:t>추론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21257C3-A25E-404F-A0EE-E0AC0ECD1529}"/>
              </a:ext>
            </a:extLst>
          </p:cNvPr>
          <p:cNvSpPr/>
          <p:nvPr/>
        </p:nvSpPr>
        <p:spPr>
          <a:xfrm>
            <a:off x="8064500" y="1155700"/>
            <a:ext cx="3429000" cy="254000"/>
          </a:xfrm>
          <a:prstGeom prst="rect">
            <a:avLst/>
          </a:prstGeom>
          <a:solidFill>
            <a:srgbClr val="F3F8FD"/>
          </a:solidFill>
          <a:ln w="8890" cap="flat" cmpd="sng" algn="ctr">
            <a:solidFill>
              <a:srgbClr val="B8D3E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D5E8E-D50C-4279-85FA-28E97D71FF03}"/>
              </a:ext>
            </a:extLst>
          </p:cNvPr>
          <p:cNvSpPr txBox="1"/>
          <p:nvPr/>
        </p:nvSpPr>
        <p:spPr>
          <a:xfrm>
            <a:off x="8153400" y="1193800"/>
            <a:ext cx="3251200" cy="177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85000" lnSpcReduction="20000"/>
          </a:bodyPr>
          <a:lstStyle/>
          <a:p>
            <a:pPr algn="l"/>
            <a:r>
              <a:rPr lang="en-US" altLang="ko-KR" sz="850" b="1">
                <a:solidFill>
                  <a:srgbClr val="174B82"/>
                </a:solidFill>
                <a:latin typeface="Malgun Gothic"/>
                <a:ea typeface="Malgun Gothic"/>
              </a:rPr>
              <a:t>DB · GUI</a:t>
            </a:r>
            <a:r>
              <a:rPr lang="ko-KR" altLang="en-US" sz="850" b="1">
                <a:solidFill>
                  <a:srgbClr val="174B82"/>
                </a:solidFill>
                <a:latin typeface="Malgun Gothic"/>
                <a:ea typeface="Malgun Gothic"/>
              </a:rPr>
              <a:t>까지 연결한 </a:t>
            </a:r>
            <a:r>
              <a:rPr lang="en-US" altLang="ko-KR" sz="850" b="1">
                <a:solidFill>
                  <a:srgbClr val="174B82"/>
                </a:solidFill>
                <a:latin typeface="Malgun Gothic"/>
                <a:ea typeface="Malgun Gothic"/>
              </a:rPr>
              <a:t>End-to-End </a:t>
            </a:r>
            <a:r>
              <a:rPr lang="ko-KR" altLang="en-US" sz="850" b="1">
                <a:solidFill>
                  <a:srgbClr val="174B82"/>
                </a:solidFill>
                <a:latin typeface="Malgun Gothic"/>
                <a:ea typeface="Malgun Gothic"/>
              </a:rPr>
              <a:t>구조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AE61C0-F6AE-43BD-B12A-2684827F3EAA}"/>
              </a:ext>
            </a:extLst>
          </p:cNvPr>
          <p:cNvSpPr/>
          <p:nvPr/>
        </p:nvSpPr>
        <p:spPr>
          <a:xfrm>
            <a:off x="393700" y="6400800"/>
            <a:ext cx="11404600" cy="317500"/>
          </a:xfrm>
          <a:prstGeom prst="rect">
            <a:avLst/>
          </a:prstGeom>
          <a:solidFill>
            <a:srgbClr val="F4F8FC"/>
          </a:solidFill>
          <a:ln w="8890" cap="flat" cmpd="sng" algn="ctr">
            <a:solidFill>
              <a:srgbClr val="BDD3E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AF90A-ED6E-401A-85A6-09C2D59DD2BC}"/>
              </a:ext>
            </a:extLst>
          </p:cNvPr>
          <p:cNvSpPr txBox="1"/>
          <p:nvPr/>
        </p:nvSpPr>
        <p:spPr>
          <a:xfrm>
            <a:off x="596900" y="6451600"/>
            <a:ext cx="10998200" cy="2159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l"/>
            <a:r>
              <a:rPr lang="ko-KR" altLang="en-US" sz="1000" b="1">
                <a:solidFill>
                  <a:srgbClr val="244E75"/>
                </a:solidFill>
                <a:latin typeface="Malgun Gothic"/>
                <a:ea typeface="Malgun Gothic"/>
              </a:rPr>
              <a:t>네트워크 추론을 별도 </a:t>
            </a:r>
            <a:r>
              <a:rPr lang="en-US" altLang="ko-KR" sz="1000" b="1">
                <a:solidFill>
                  <a:srgbClr val="244E75"/>
                </a:solidFill>
                <a:latin typeface="Malgun Gothic"/>
                <a:ea typeface="Malgun Gothic"/>
              </a:rPr>
              <a:t>Worker</a:t>
            </a:r>
            <a:r>
              <a:rPr lang="ko-KR" altLang="en-US" sz="1000" b="1">
                <a:solidFill>
                  <a:srgbClr val="244E75"/>
                </a:solidFill>
                <a:latin typeface="Malgun Gothic"/>
                <a:ea typeface="Malgun Gothic"/>
              </a:rPr>
              <a:t>에서 처리하여 </a:t>
            </a:r>
            <a:r>
              <a:rPr lang="en-US" altLang="ko-KR" sz="1000" b="1">
                <a:solidFill>
                  <a:srgbClr val="244E75"/>
                </a:solidFill>
                <a:latin typeface="Malgun Gothic"/>
                <a:ea typeface="Malgun Gothic"/>
              </a:rPr>
              <a:t>GUI</a:t>
            </a:r>
            <a:r>
              <a:rPr lang="ko-KR" altLang="en-US" sz="1000" b="1">
                <a:solidFill>
                  <a:srgbClr val="244E75"/>
                </a:solidFill>
                <a:latin typeface="Malgun Gothic"/>
                <a:ea typeface="Malgun Gothic"/>
              </a:rPr>
              <a:t>가 멈추지 않도록 구성하였다</a:t>
            </a:r>
            <a:r>
              <a:rPr lang="en-US" altLang="ko-KR" sz="1000" b="1">
                <a:solidFill>
                  <a:srgbClr val="244E75"/>
                </a:solidFill>
                <a:latin typeface="Malgun Gothic"/>
                <a:ea typeface="Malgun Gothic"/>
              </a:rPr>
              <a:t>.</a:t>
            </a:r>
            <a:endParaRPr lang="ko-KR" altLang="en-US" sz="1000" b="1">
              <a:solidFill>
                <a:srgbClr val="244E75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0271596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MART CART Database Structu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14779CE-ECC6-4992-9B8B-F287A6138F58}"/>
              </a:ext>
            </a:extLst>
          </p:cNvPr>
          <p:cNvSpPr/>
          <p:nvPr/>
        </p:nvSpPr>
        <p:spPr>
          <a:xfrm>
            <a:off x="330200" y="6223000"/>
            <a:ext cx="11531600" cy="495300"/>
          </a:xfrm>
          <a:prstGeom prst="rect">
            <a:avLst/>
          </a:prstGeom>
          <a:solidFill>
            <a:srgbClr val="EEF6FD"/>
          </a:solidFill>
          <a:ln w="10160" cap="flat" cmpd="sng" algn="ctr">
            <a:solidFill>
              <a:srgbClr val="BCD5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97D14F-6DD1-49FE-974E-20B0E1927A64}"/>
              </a:ext>
            </a:extLst>
          </p:cNvPr>
          <p:cNvSpPr txBox="1"/>
          <p:nvPr/>
        </p:nvSpPr>
        <p:spPr>
          <a:xfrm>
            <a:off x="584200" y="6311900"/>
            <a:ext cx="11023600" cy="3175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ko-KR" sz="950" b="1">
                <a:solidFill>
                  <a:srgbClr val="174B82"/>
                </a:solidFill>
                <a:latin typeface="Malgun Gothic"/>
                <a:ea typeface="Malgun Gothic"/>
              </a:rPr>
              <a:t>YOLO</a:t>
            </a:r>
            <a:r>
              <a:rPr lang="ko-KR" altLang="en-US" sz="950" b="1">
                <a:solidFill>
                  <a:srgbClr val="174B82"/>
                </a:solidFill>
                <a:latin typeface="Malgun Gothic"/>
                <a:ea typeface="Malgun Gothic"/>
              </a:rPr>
              <a:t>가 출력한 </a:t>
            </a:r>
            <a:r>
              <a:rPr lang="en-US" altLang="ko-KR" sz="950" b="1">
                <a:solidFill>
                  <a:srgbClr val="174B82"/>
                </a:solidFill>
                <a:latin typeface="Malgun Gothic"/>
                <a:ea typeface="Malgun Gothic"/>
              </a:rPr>
              <a:t>class_name</a:t>
            </a:r>
            <a:r>
              <a:rPr lang="ko-KR" altLang="en-US" sz="950" b="1">
                <a:solidFill>
                  <a:srgbClr val="174B82"/>
                </a:solidFill>
                <a:latin typeface="Malgun Gothic"/>
                <a:ea typeface="Malgun Gothic"/>
              </a:rPr>
              <a:t>을 </a:t>
            </a:r>
            <a:r>
              <a:rPr lang="en-US" altLang="ko-KR" sz="950" b="1">
                <a:solidFill>
                  <a:srgbClr val="174B82"/>
                </a:solidFill>
                <a:latin typeface="Malgun Gothic"/>
                <a:ea typeface="Malgun Gothic"/>
              </a:rPr>
              <a:t>products</a:t>
            </a:r>
            <a:r>
              <a:rPr lang="ko-KR" altLang="en-US" sz="950" b="1">
                <a:solidFill>
                  <a:srgbClr val="174B82"/>
                </a:solidFill>
                <a:latin typeface="Malgun Gothic"/>
                <a:ea typeface="Malgun Gothic"/>
              </a:rPr>
              <a:t>와 매칭하여 상품명과 가격을 조회하고</a:t>
            </a:r>
            <a:r>
              <a:rPr lang="en-US" altLang="ko-KR" sz="950" b="1">
                <a:solidFill>
                  <a:srgbClr val="174B82"/>
                </a:solidFill>
                <a:latin typeface="Malgun Gothic"/>
                <a:ea typeface="Malgun Gothic"/>
              </a:rPr>
              <a:t>, </a:t>
            </a:r>
            <a:r>
              <a:rPr lang="ko-KR" altLang="en-US" sz="950" b="1">
                <a:solidFill>
                  <a:srgbClr val="174B82"/>
                </a:solidFill>
                <a:latin typeface="Malgun Gothic"/>
                <a:ea typeface="Malgun Gothic"/>
              </a:rPr>
              <a:t>현재 장바구니 식재료를 </a:t>
            </a:r>
            <a:r>
              <a:rPr lang="en-US" altLang="ko-KR" sz="950" b="1">
                <a:solidFill>
                  <a:srgbClr val="174B82"/>
                </a:solidFill>
                <a:latin typeface="Malgun Gothic"/>
                <a:ea typeface="Malgun Gothic"/>
              </a:rPr>
              <a:t>recipe_ingredients</a:t>
            </a:r>
            <a:r>
              <a:rPr lang="ko-KR" altLang="en-US" sz="950" b="1">
                <a:solidFill>
                  <a:srgbClr val="174B82"/>
                </a:solidFill>
                <a:latin typeface="Malgun Gothic"/>
                <a:ea typeface="Malgun Gothic"/>
              </a:rPr>
              <a:t>와 비교하여 레시피 충족률을 계산한다</a:t>
            </a:r>
            <a:r>
              <a:rPr lang="en-US" altLang="ko-KR" sz="950" b="1">
                <a:solidFill>
                  <a:srgbClr val="174B82"/>
                </a:solidFill>
                <a:latin typeface="Malgun Gothic"/>
                <a:ea typeface="Malgun Gothic"/>
              </a:rPr>
              <a:t>.</a:t>
            </a:r>
            <a:endParaRPr lang="ko-KR" altLang="en-US" sz="950" b="1">
              <a:solidFill>
                <a:srgbClr val="174B82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15406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123B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04832" y="476250"/>
            <a:ext cx="21959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776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SCHEDULE &amp; OUTPUT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832" y="781050"/>
            <a:ext cx="1028674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0B1F3A"/>
                </a:solidFill>
                <a:latin typeface="Malgun Gothic"/>
                <a:ea typeface="Malgun Gothic"/>
                <a:cs typeface="Malgun Gothic" pitchFamily="34" charset="-120"/>
              </a:rPr>
              <a:t>프로젝트 일정</a:t>
            </a:r>
            <a:endParaRPr lang="en-US" sz="3000" b="1" dirty="0">
              <a:solidFill>
                <a:srgbClr val="0B1F3A"/>
              </a:solidFill>
              <a:latin typeface="Malgun Gothic"/>
              <a:ea typeface="Malgun Gothic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04832" y="1409700"/>
            <a:ext cx="10782030" cy="19050"/>
          </a:xfrm>
          <a:prstGeom prst="rect">
            <a:avLst/>
          </a:prstGeom>
          <a:solidFill>
            <a:srgbClr val="D7E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34E9AF-4EF7-43BA-A815-E12824F56E15}"/>
              </a:ext>
            </a:extLst>
          </p:cNvPr>
          <p:cNvSpPr txBox="1"/>
          <p:nvPr/>
        </p:nvSpPr>
        <p:spPr>
          <a:xfrm>
            <a:off x="711200" y="1651000"/>
            <a:ext cx="4064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10000"/>
          </a:bodyPr>
          <a:lstStyle/>
          <a:p>
            <a:pPr algn="l"/>
            <a:r>
              <a:rPr lang="en-US" altLang="ko-KR" sz="1100" b="1">
                <a:solidFill>
                  <a:srgbClr val="2776C8"/>
                </a:solidFill>
                <a:latin typeface="Malgun Gothic"/>
                <a:ea typeface="Malgun Gothic"/>
              </a:rPr>
              <a:t>PROJECT DEVELOPMENT TIMELINE</a:t>
            </a:r>
            <a:endParaRPr lang="ko-KR" altLang="en-US" sz="1100" b="1">
              <a:solidFill>
                <a:srgbClr val="2776C8"/>
              </a:solidFill>
              <a:latin typeface="Malgun Gothic"/>
              <a:ea typeface="Malgun Gothic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D29C7B3-EF6A-4473-847B-A133B0BFAA84}"/>
              </a:ext>
            </a:extLst>
          </p:cNvPr>
          <p:cNvSpPr/>
          <p:nvPr/>
        </p:nvSpPr>
        <p:spPr>
          <a:xfrm>
            <a:off x="508000" y="2095500"/>
            <a:ext cx="1397000" cy="11938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BDD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116E07B-DD9F-452D-9F47-EBDE3F644548}"/>
              </a:ext>
            </a:extLst>
          </p:cNvPr>
          <p:cNvSpPr/>
          <p:nvPr/>
        </p:nvSpPr>
        <p:spPr>
          <a:xfrm>
            <a:off x="508000" y="2095500"/>
            <a:ext cx="1397000" cy="330200"/>
          </a:xfrm>
          <a:prstGeom prst="rect">
            <a:avLst/>
          </a:prstGeom>
          <a:solidFill>
            <a:srgbClr val="2677D7"/>
          </a:solidFill>
          <a:ln w="0" cap="flat" cmpd="sng" algn="ctr">
            <a:solidFill>
              <a:srgbClr val="2677D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694BD22-6956-43AA-A94A-308C8F9F4982}"/>
              </a:ext>
            </a:extLst>
          </p:cNvPr>
          <p:cNvSpPr txBox="1"/>
          <p:nvPr/>
        </p:nvSpPr>
        <p:spPr>
          <a:xfrm>
            <a:off x="571500" y="21463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20000"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Malgun Gothic"/>
                <a:ea typeface="Malgun Gothic"/>
              </a:rPr>
              <a:t>문제 정의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6E2A7A3-3572-4478-88C9-AB34A5DA6CB1}"/>
              </a:ext>
            </a:extLst>
          </p:cNvPr>
          <p:cNvSpPr txBox="1"/>
          <p:nvPr/>
        </p:nvSpPr>
        <p:spPr>
          <a:xfrm>
            <a:off x="571500" y="2527300"/>
            <a:ext cx="12700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950">
                <a:solidFill>
                  <a:srgbClr val="344F6B"/>
                </a:solidFill>
                <a:latin typeface="Malgun Gothic"/>
                <a:ea typeface="Malgun Gothic"/>
              </a:rPr>
              <a:t>서비스 아이디어
선정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ED89A7B1-A2F3-47AA-8957-13256F4E93D5}"/>
              </a:ext>
            </a:extLst>
          </p:cNvPr>
          <p:cNvSpPr/>
          <p:nvPr/>
        </p:nvSpPr>
        <p:spPr>
          <a:xfrm>
            <a:off x="1016000" y="3454400"/>
            <a:ext cx="381000" cy="381000"/>
          </a:xfrm>
          <a:prstGeom prst="ellipse">
            <a:avLst/>
          </a:prstGeom>
          <a:solidFill>
            <a:srgbClr val="2677D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ko-KR" sz="115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  <a:endParaRPr lang="ko-KR" altLang="en-US" sz="115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3A0334D-CFFC-4AD8-BE71-E02AD5F504CA}"/>
              </a:ext>
            </a:extLst>
          </p:cNvPr>
          <p:cNvSpPr/>
          <p:nvPr/>
        </p:nvSpPr>
        <p:spPr>
          <a:xfrm>
            <a:off x="2120900" y="4000500"/>
            <a:ext cx="1397000" cy="12700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BDD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D6AFCEE-5595-4F36-92FB-4CD2742D335E}"/>
              </a:ext>
            </a:extLst>
          </p:cNvPr>
          <p:cNvSpPr/>
          <p:nvPr/>
        </p:nvSpPr>
        <p:spPr>
          <a:xfrm>
            <a:off x="2120900" y="4000500"/>
            <a:ext cx="1397000" cy="330200"/>
          </a:xfrm>
          <a:prstGeom prst="rect">
            <a:avLst/>
          </a:prstGeom>
          <a:solidFill>
            <a:srgbClr val="138F9D"/>
          </a:solidFill>
          <a:ln w="0" cap="flat" cmpd="sng" algn="ctr">
            <a:solidFill>
              <a:srgbClr val="138F9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DC9E70-00D5-4A13-93BB-CF542F3F6D47}"/>
              </a:ext>
            </a:extLst>
          </p:cNvPr>
          <p:cNvSpPr txBox="1"/>
          <p:nvPr/>
        </p:nvSpPr>
        <p:spPr>
          <a:xfrm>
            <a:off x="2184400" y="40513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20000"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Malgun Gothic"/>
                <a:ea typeface="Malgun Gothic"/>
              </a:rPr>
              <a:t>데이터 분석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D857AA-A94A-4F81-8146-C2A462DA761F}"/>
              </a:ext>
            </a:extLst>
          </p:cNvPr>
          <p:cNvSpPr txBox="1"/>
          <p:nvPr/>
        </p:nvSpPr>
        <p:spPr>
          <a:xfrm>
            <a:off x="2184400" y="4432300"/>
            <a:ext cx="12700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ko-KR" sz="950">
                <a:solidFill>
                  <a:srgbClr val="344F6B"/>
                </a:solidFill>
                <a:latin typeface="Malgun Gothic"/>
                <a:ea typeface="Malgun Gothic"/>
              </a:rPr>
              <a:t>KOSIS · KREI
</a:t>
            </a:r>
            <a:r>
              <a:rPr lang="ko-KR" altLang="en-US" sz="950">
                <a:solidFill>
                  <a:srgbClr val="344F6B"/>
                </a:solidFill>
                <a:latin typeface="Malgun Gothic"/>
                <a:ea typeface="Malgun Gothic"/>
              </a:rPr>
              <a:t>필요성 검증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E40C647D-0ED3-4AD5-8916-D7BA024563C1}"/>
              </a:ext>
            </a:extLst>
          </p:cNvPr>
          <p:cNvSpPr/>
          <p:nvPr/>
        </p:nvSpPr>
        <p:spPr>
          <a:xfrm>
            <a:off x="2628900" y="3454400"/>
            <a:ext cx="381000" cy="381000"/>
          </a:xfrm>
          <a:prstGeom prst="ellipse">
            <a:avLst/>
          </a:prstGeom>
          <a:solidFill>
            <a:srgbClr val="138F9D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ko-KR" sz="115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  <a:endParaRPr lang="ko-KR" altLang="en-US" sz="115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4B245CF-7558-40A1-A565-E9BEB8F3351B}"/>
              </a:ext>
            </a:extLst>
          </p:cNvPr>
          <p:cNvSpPr/>
          <p:nvPr/>
        </p:nvSpPr>
        <p:spPr>
          <a:xfrm>
            <a:off x="3733800" y="2095500"/>
            <a:ext cx="1397000" cy="11938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BDD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0232F2-88AC-4685-95FF-98CE55130F69}"/>
              </a:ext>
            </a:extLst>
          </p:cNvPr>
          <p:cNvSpPr/>
          <p:nvPr/>
        </p:nvSpPr>
        <p:spPr>
          <a:xfrm>
            <a:off x="3733800" y="2095500"/>
            <a:ext cx="1397000" cy="330200"/>
          </a:xfrm>
          <a:prstGeom prst="rect">
            <a:avLst/>
          </a:prstGeom>
          <a:solidFill>
            <a:srgbClr val="13A889"/>
          </a:solidFill>
          <a:ln w="0" cap="flat" cmpd="sng" algn="ctr">
            <a:solidFill>
              <a:srgbClr val="13A889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43B532-F711-4ABF-ADE1-46AE82B1189B}"/>
              </a:ext>
            </a:extLst>
          </p:cNvPr>
          <p:cNvSpPr txBox="1"/>
          <p:nvPr/>
        </p:nvSpPr>
        <p:spPr>
          <a:xfrm>
            <a:off x="3797300" y="21463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20000"/>
          </a:bodyPr>
          <a:lstStyle/>
          <a:p>
            <a:pPr algn="l"/>
            <a:r>
              <a:rPr lang="en-US" altLang="ko-KR" sz="1150" b="1">
                <a:solidFill>
                  <a:srgbClr val="FFFFFF"/>
                </a:solidFill>
                <a:latin typeface="Malgun Gothic"/>
                <a:ea typeface="Malgun Gothic"/>
              </a:rPr>
              <a:t>Dataset </a:t>
            </a:r>
            <a:r>
              <a:rPr lang="ko-KR" altLang="en-US" sz="1150" b="1">
                <a:solidFill>
                  <a:srgbClr val="FFFFFF"/>
                </a:solidFill>
                <a:latin typeface="Malgun Gothic"/>
                <a:ea typeface="Malgun Gothic"/>
              </a:rPr>
              <a:t>구축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0429F6-8EFC-4BF0-949F-DF03D2F8B87F}"/>
              </a:ext>
            </a:extLst>
          </p:cNvPr>
          <p:cNvSpPr txBox="1"/>
          <p:nvPr/>
        </p:nvSpPr>
        <p:spPr>
          <a:xfrm>
            <a:off x="3797300" y="2527300"/>
            <a:ext cx="12700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950">
                <a:solidFill>
                  <a:srgbClr val="344F6B"/>
                </a:solidFill>
                <a:latin typeface="Malgun Gothic"/>
                <a:ea typeface="Malgun Gothic"/>
              </a:rPr>
              <a:t>이미지 수집
</a:t>
            </a:r>
            <a:r>
              <a:rPr lang="en-US" altLang="ko-KR" sz="950">
                <a:solidFill>
                  <a:srgbClr val="344F6B"/>
                </a:solidFill>
                <a:latin typeface="Malgun Gothic"/>
                <a:ea typeface="Malgun Gothic"/>
              </a:rPr>
              <a:t>Roboflow </a:t>
            </a:r>
            <a:r>
              <a:rPr lang="ko-KR" altLang="en-US" sz="950">
                <a:solidFill>
                  <a:srgbClr val="344F6B"/>
                </a:solidFill>
                <a:latin typeface="Malgun Gothic"/>
                <a:ea typeface="Malgun Gothic"/>
              </a:rPr>
              <a:t>라벨링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C17DFC54-1931-40AF-85ED-2D71ED0A8245}"/>
              </a:ext>
            </a:extLst>
          </p:cNvPr>
          <p:cNvSpPr/>
          <p:nvPr/>
        </p:nvSpPr>
        <p:spPr>
          <a:xfrm>
            <a:off x="4241800" y="3454400"/>
            <a:ext cx="381000" cy="381000"/>
          </a:xfrm>
          <a:prstGeom prst="ellipse">
            <a:avLst/>
          </a:prstGeom>
          <a:solidFill>
            <a:srgbClr val="13A889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ko-KR" sz="115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  <a:endParaRPr lang="ko-KR" altLang="en-US" sz="115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6EC09D0-5A46-43E6-8146-845EF08884C9}"/>
              </a:ext>
            </a:extLst>
          </p:cNvPr>
          <p:cNvSpPr/>
          <p:nvPr/>
        </p:nvSpPr>
        <p:spPr>
          <a:xfrm>
            <a:off x="5346700" y="4000500"/>
            <a:ext cx="1397000" cy="12700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BDD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E23CFF0-CA83-4B83-8D38-C8C8030B3F64}"/>
              </a:ext>
            </a:extLst>
          </p:cNvPr>
          <p:cNvSpPr/>
          <p:nvPr/>
        </p:nvSpPr>
        <p:spPr>
          <a:xfrm>
            <a:off x="5346700" y="4000500"/>
            <a:ext cx="1397000" cy="330200"/>
          </a:xfrm>
          <a:prstGeom prst="rect">
            <a:avLst/>
          </a:prstGeom>
          <a:solidFill>
            <a:srgbClr val="F07A21"/>
          </a:solidFill>
          <a:ln w="0" cap="flat" cmpd="sng" algn="ctr">
            <a:solidFill>
              <a:srgbClr val="F07A2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A639B46-3915-4A11-8989-7A45101BF232}"/>
              </a:ext>
            </a:extLst>
          </p:cNvPr>
          <p:cNvSpPr txBox="1"/>
          <p:nvPr/>
        </p:nvSpPr>
        <p:spPr>
          <a:xfrm>
            <a:off x="5410200" y="40513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20000"/>
          </a:bodyPr>
          <a:lstStyle/>
          <a:p>
            <a:pPr algn="l"/>
            <a:r>
              <a:rPr lang="en-US" altLang="ko-KR" sz="1150" b="1">
                <a:solidFill>
                  <a:srgbClr val="FFFFFF"/>
                </a:solidFill>
                <a:latin typeface="Malgun Gothic"/>
                <a:ea typeface="Malgun Gothic"/>
              </a:rPr>
              <a:t>YOLO </a:t>
            </a:r>
            <a:r>
              <a:rPr lang="ko-KR" altLang="en-US" sz="1150" b="1">
                <a:solidFill>
                  <a:srgbClr val="FFFFFF"/>
                </a:solidFill>
                <a:latin typeface="Malgun Gothic"/>
                <a:ea typeface="Malgun Gothic"/>
              </a:rPr>
              <a:t>학습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FD05A3-7559-4449-B8B8-F747387271B5}"/>
              </a:ext>
            </a:extLst>
          </p:cNvPr>
          <p:cNvSpPr txBox="1"/>
          <p:nvPr/>
        </p:nvSpPr>
        <p:spPr>
          <a:xfrm>
            <a:off x="5410200" y="4432300"/>
            <a:ext cx="12700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fi-FI" altLang="ko-KR" sz="950">
                <a:solidFill>
                  <a:srgbClr val="344F6B"/>
                </a:solidFill>
                <a:latin typeface="Malgun Gothic"/>
                <a:ea typeface="Malgun Gothic"/>
              </a:rPr>
              <a:t>Dataset </a:t>
            </a:r>
            <a:r>
              <a:rPr lang="ko-KR" altLang="fi-FI" sz="950">
                <a:solidFill>
                  <a:srgbClr val="344F6B"/>
                </a:solidFill>
                <a:latin typeface="Malgun Gothic"/>
                <a:ea typeface="Malgun Gothic"/>
              </a:rPr>
              <a:t>실험
</a:t>
            </a:r>
            <a:r>
              <a:rPr lang="fi-FI" altLang="ko-KR" sz="950">
                <a:solidFill>
                  <a:srgbClr val="344F6B"/>
                </a:solidFill>
                <a:latin typeface="Malgun Gothic"/>
                <a:ea typeface="Malgun Gothic"/>
              </a:rPr>
              <a:t>mAP@50 80.5%</a:t>
            </a:r>
            <a:endParaRPr lang="ko-KR" altLang="en-US" sz="950">
              <a:solidFill>
                <a:srgbClr val="344F6B"/>
              </a:solidFill>
              <a:latin typeface="Malgun Gothic"/>
              <a:ea typeface="Malgun Gothic"/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01923A95-2324-4620-8A11-628A86A5DDE3}"/>
              </a:ext>
            </a:extLst>
          </p:cNvPr>
          <p:cNvSpPr/>
          <p:nvPr/>
        </p:nvSpPr>
        <p:spPr>
          <a:xfrm>
            <a:off x="5854700" y="3454400"/>
            <a:ext cx="381000" cy="381000"/>
          </a:xfrm>
          <a:prstGeom prst="ellipse">
            <a:avLst/>
          </a:prstGeom>
          <a:solidFill>
            <a:srgbClr val="F07A21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ko-KR" sz="115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  <a:endParaRPr lang="ko-KR" altLang="en-US" sz="115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D634D75-F86D-43BC-A751-B7438BB6396B}"/>
              </a:ext>
            </a:extLst>
          </p:cNvPr>
          <p:cNvSpPr/>
          <p:nvPr/>
        </p:nvSpPr>
        <p:spPr>
          <a:xfrm>
            <a:off x="6959600" y="2095500"/>
            <a:ext cx="1397000" cy="11938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BDD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79E7929-958B-4513-984F-BE9AB2BC7C24}"/>
              </a:ext>
            </a:extLst>
          </p:cNvPr>
          <p:cNvSpPr/>
          <p:nvPr/>
        </p:nvSpPr>
        <p:spPr>
          <a:xfrm>
            <a:off x="6959600" y="2095500"/>
            <a:ext cx="1397000" cy="330200"/>
          </a:xfrm>
          <a:prstGeom prst="rect">
            <a:avLst/>
          </a:prstGeom>
          <a:solidFill>
            <a:srgbClr val="8A55D7"/>
          </a:solidFill>
          <a:ln w="0" cap="flat" cmpd="sng" algn="ctr">
            <a:solidFill>
              <a:srgbClr val="8A55D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CDEB59D-9369-4658-AF03-361F66439256}"/>
              </a:ext>
            </a:extLst>
          </p:cNvPr>
          <p:cNvSpPr txBox="1"/>
          <p:nvPr/>
        </p:nvSpPr>
        <p:spPr>
          <a:xfrm>
            <a:off x="7023100" y="21463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20000"/>
          </a:bodyPr>
          <a:lstStyle/>
          <a:p>
            <a:pPr algn="l"/>
            <a:r>
              <a:rPr lang="en-US" altLang="ko-KR" sz="1150" b="1">
                <a:solidFill>
                  <a:srgbClr val="FFFFFF"/>
                </a:solidFill>
                <a:latin typeface="Malgun Gothic"/>
                <a:ea typeface="Malgun Gothic"/>
              </a:rPr>
              <a:t>Database </a:t>
            </a:r>
            <a:r>
              <a:rPr lang="ko-KR" altLang="en-US" sz="1150" b="1">
                <a:solidFill>
                  <a:srgbClr val="FFFFFF"/>
                </a:solidFill>
                <a:latin typeface="Malgun Gothic"/>
                <a:ea typeface="Malgun Gothic"/>
              </a:rPr>
              <a:t>구축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C7A5430-ACC5-4825-950D-E93E79BC5C7E}"/>
              </a:ext>
            </a:extLst>
          </p:cNvPr>
          <p:cNvSpPr txBox="1"/>
          <p:nvPr/>
        </p:nvSpPr>
        <p:spPr>
          <a:xfrm>
            <a:off x="7023100" y="2527300"/>
            <a:ext cx="12700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ko-KR" sz="950">
                <a:solidFill>
                  <a:srgbClr val="344F6B"/>
                </a:solidFill>
                <a:latin typeface="Malgun Gothic"/>
                <a:ea typeface="Malgun Gothic"/>
              </a:rPr>
              <a:t>SQLite
3</a:t>
            </a:r>
            <a:r>
              <a:rPr lang="ko-KR" altLang="en-US" sz="950">
                <a:solidFill>
                  <a:srgbClr val="344F6B"/>
                </a:solidFill>
                <a:latin typeface="Malgun Gothic"/>
                <a:ea typeface="Malgun Gothic"/>
              </a:rPr>
              <a:t>개 핵심 테이블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1EB4003F-F9C0-426A-B2E0-304D9C88ADBC}"/>
              </a:ext>
            </a:extLst>
          </p:cNvPr>
          <p:cNvSpPr/>
          <p:nvPr/>
        </p:nvSpPr>
        <p:spPr>
          <a:xfrm>
            <a:off x="7467600" y="3454400"/>
            <a:ext cx="381000" cy="381000"/>
          </a:xfrm>
          <a:prstGeom prst="ellipse">
            <a:avLst/>
          </a:prstGeom>
          <a:solidFill>
            <a:srgbClr val="8A55D7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ko-KR" sz="115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  <a:endParaRPr lang="ko-KR" altLang="en-US" sz="115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31E1894-F277-4D85-AC44-B7F31B2B4807}"/>
              </a:ext>
            </a:extLst>
          </p:cNvPr>
          <p:cNvSpPr/>
          <p:nvPr/>
        </p:nvSpPr>
        <p:spPr>
          <a:xfrm>
            <a:off x="8572500" y="4000500"/>
            <a:ext cx="1397000" cy="12700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BDD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C03A0EE-6ACC-44C8-B0A5-010FCDA90968}"/>
              </a:ext>
            </a:extLst>
          </p:cNvPr>
          <p:cNvSpPr/>
          <p:nvPr/>
        </p:nvSpPr>
        <p:spPr>
          <a:xfrm>
            <a:off x="8572500" y="4000500"/>
            <a:ext cx="1397000" cy="330200"/>
          </a:xfrm>
          <a:prstGeom prst="rect">
            <a:avLst/>
          </a:prstGeom>
          <a:solidFill>
            <a:srgbClr val="426ED1"/>
          </a:solidFill>
          <a:ln w="0" cap="flat" cmpd="sng" algn="ctr">
            <a:solidFill>
              <a:srgbClr val="426ED1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D0DB039-3ED4-4A3C-AB2D-E9B9B6ADE218}"/>
              </a:ext>
            </a:extLst>
          </p:cNvPr>
          <p:cNvSpPr txBox="1"/>
          <p:nvPr/>
        </p:nvSpPr>
        <p:spPr>
          <a:xfrm>
            <a:off x="8636000" y="40513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20000"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Malgun Gothic"/>
                <a:ea typeface="Malgun Gothic"/>
              </a:rPr>
              <a:t>서비스 통합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DFD51E-455C-4559-8B23-FA0A97164C1F}"/>
              </a:ext>
            </a:extLst>
          </p:cNvPr>
          <p:cNvSpPr txBox="1"/>
          <p:nvPr/>
        </p:nvSpPr>
        <p:spPr>
          <a:xfrm>
            <a:off x="8636000" y="4432300"/>
            <a:ext cx="1270000" cy="736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ko-KR" sz="950">
                <a:solidFill>
                  <a:srgbClr val="344F6B"/>
                </a:solidFill>
                <a:latin typeface="Malgun Gothic"/>
                <a:ea typeface="Malgun Gothic"/>
              </a:rPr>
              <a:t>OpenCV · Roboflow
PySide6 </a:t>
            </a:r>
            <a:r>
              <a:rPr lang="ko-KR" altLang="en-US" sz="950">
                <a:solidFill>
                  <a:srgbClr val="344F6B"/>
                </a:solidFill>
                <a:latin typeface="Malgun Gothic"/>
                <a:ea typeface="Malgun Gothic"/>
              </a:rPr>
              <a:t>통합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0DC27CE3-6583-408C-800E-237087669626}"/>
              </a:ext>
            </a:extLst>
          </p:cNvPr>
          <p:cNvSpPr/>
          <p:nvPr/>
        </p:nvSpPr>
        <p:spPr>
          <a:xfrm>
            <a:off x="9080500" y="3454400"/>
            <a:ext cx="381000" cy="381000"/>
          </a:xfrm>
          <a:prstGeom prst="ellipse">
            <a:avLst/>
          </a:prstGeom>
          <a:solidFill>
            <a:srgbClr val="426ED1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ko-KR" sz="115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  <a:endParaRPr lang="ko-KR" altLang="en-US" sz="115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D32C383-6909-427E-9AC4-AA34F1CF3D53}"/>
              </a:ext>
            </a:extLst>
          </p:cNvPr>
          <p:cNvSpPr/>
          <p:nvPr/>
        </p:nvSpPr>
        <p:spPr>
          <a:xfrm>
            <a:off x="10185400" y="2095500"/>
            <a:ext cx="1397000" cy="1193800"/>
          </a:xfrm>
          <a:prstGeom prst="rect">
            <a:avLst/>
          </a:prstGeom>
          <a:solidFill>
            <a:srgbClr val="FFFFFF"/>
          </a:solidFill>
          <a:ln w="13970" cap="flat" cmpd="sng" algn="ctr">
            <a:solidFill>
              <a:srgbClr val="BDD5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E6DC29C-4A57-4EC3-AC1B-180356F0BB5F}"/>
              </a:ext>
            </a:extLst>
          </p:cNvPr>
          <p:cNvSpPr/>
          <p:nvPr/>
        </p:nvSpPr>
        <p:spPr>
          <a:xfrm>
            <a:off x="10185400" y="2095500"/>
            <a:ext cx="1397000" cy="330200"/>
          </a:xfrm>
          <a:prstGeom prst="rect">
            <a:avLst/>
          </a:prstGeom>
          <a:solidFill>
            <a:srgbClr val="1F9D55"/>
          </a:solidFill>
          <a:ln w="0" cap="flat" cmpd="sng" algn="ctr">
            <a:solidFill>
              <a:srgbClr val="1F9D5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58D512-1FB9-4DC8-96E3-D89B13256405}"/>
              </a:ext>
            </a:extLst>
          </p:cNvPr>
          <p:cNvSpPr txBox="1"/>
          <p:nvPr/>
        </p:nvSpPr>
        <p:spPr>
          <a:xfrm>
            <a:off x="10248900" y="21463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20000"/>
          </a:bodyPr>
          <a:lstStyle/>
          <a:p>
            <a:pPr algn="l"/>
            <a:r>
              <a:rPr lang="ko-KR" altLang="en-US" sz="1150" b="1">
                <a:solidFill>
                  <a:srgbClr val="FFFFFF"/>
                </a:solidFill>
                <a:latin typeface="Malgun Gothic"/>
                <a:ea typeface="Malgun Gothic"/>
              </a:rPr>
              <a:t>통합 테스트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FD62AD4-1E27-49E0-99C3-66484F56C980}"/>
              </a:ext>
            </a:extLst>
          </p:cNvPr>
          <p:cNvSpPr txBox="1"/>
          <p:nvPr/>
        </p:nvSpPr>
        <p:spPr>
          <a:xfrm>
            <a:off x="10248900" y="2527300"/>
            <a:ext cx="1270000" cy="660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ko-KR" altLang="en-US" sz="950">
                <a:solidFill>
                  <a:srgbClr val="344F6B"/>
                </a:solidFill>
                <a:latin typeface="Malgun Gothic"/>
                <a:ea typeface="Malgun Gothic"/>
              </a:rPr>
              <a:t>상품</a:t>
            </a:r>
            <a:r>
              <a:rPr lang="en-US" altLang="ko-KR" sz="950">
                <a:solidFill>
                  <a:srgbClr val="344F6B"/>
                </a:solidFill>
                <a:latin typeface="Malgun Gothic"/>
                <a:ea typeface="Malgun Gothic"/>
              </a:rPr>
              <a:t>·</a:t>
            </a:r>
            <a:r>
              <a:rPr lang="ko-KR" altLang="en-US" sz="950">
                <a:solidFill>
                  <a:srgbClr val="344F6B"/>
                </a:solidFill>
                <a:latin typeface="Malgun Gothic"/>
                <a:ea typeface="Malgun Gothic"/>
              </a:rPr>
              <a:t>가격</a:t>
            </a:r>
            <a:r>
              <a:rPr lang="en-US" altLang="ko-KR" sz="950">
                <a:solidFill>
                  <a:srgbClr val="344F6B"/>
                </a:solidFill>
                <a:latin typeface="Malgun Gothic"/>
                <a:ea typeface="Malgun Gothic"/>
              </a:rPr>
              <a:t>·</a:t>
            </a:r>
            <a:r>
              <a:rPr lang="ko-KR" altLang="en-US" sz="950">
                <a:solidFill>
                  <a:srgbClr val="344F6B"/>
                </a:solidFill>
                <a:latin typeface="Malgun Gothic"/>
                <a:ea typeface="Malgun Gothic"/>
              </a:rPr>
              <a:t>총액
레시피 통합 테스트</a:t>
            </a: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F0534AA9-B041-495B-9D36-751CA118B3DA}"/>
              </a:ext>
            </a:extLst>
          </p:cNvPr>
          <p:cNvSpPr/>
          <p:nvPr/>
        </p:nvSpPr>
        <p:spPr>
          <a:xfrm>
            <a:off x="10693400" y="3454400"/>
            <a:ext cx="381000" cy="381000"/>
          </a:xfrm>
          <a:prstGeom prst="ellipse">
            <a:avLst/>
          </a:prstGeom>
          <a:solidFill>
            <a:srgbClr val="1F9D55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altLang="ko-KR" sz="1150" b="1">
                <a:solidFill>
                  <a:srgbClr val="FFFFFF"/>
                </a:solidFill>
                <a:latin typeface="Malgun Gothic"/>
                <a:ea typeface="Malgun Gothic"/>
              </a:rPr>
              <a:t>7</a:t>
            </a:r>
            <a:endParaRPr lang="ko-KR" altLang="en-US" sz="115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3DBA8F48-3CC5-46F1-B428-E0A6547F6C63}"/>
              </a:ext>
            </a:extLst>
          </p:cNvPr>
          <p:cNvSpPr/>
          <p:nvPr/>
        </p:nvSpPr>
        <p:spPr>
          <a:xfrm>
            <a:off x="704850" y="5816600"/>
            <a:ext cx="10782300" cy="736600"/>
          </a:xfrm>
          <a:prstGeom prst="rect">
            <a:avLst/>
          </a:prstGeom>
          <a:solidFill>
            <a:srgbClr val="123B6D"/>
          </a:solidFill>
          <a:ln w="0" cap="flat" cmpd="sng" algn="ctr">
            <a:solidFill>
              <a:srgbClr val="123B6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AE05D7-4CAE-4DFE-B70A-A23A13DB3862}"/>
              </a:ext>
            </a:extLst>
          </p:cNvPr>
          <p:cNvSpPr txBox="1"/>
          <p:nvPr/>
        </p:nvSpPr>
        <p:spPr>
          <a:xfrm>
            <a:off x="1016000" y="5918200"/>
            <a:ext cx="10160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lnSpcReduction="10000"/>
          </a:bodyPr>
          <a:lstStyle/>
          <a:p>
            <a:pPr algn="l"/>
            <a:r>
              <a:rPr lang="ko-KR" altLang="en-US" sz="1500" b="1">
                <a:solidFill>
                  <a:srgbClr val="FFFFFF"/>
                </a:solidFill>
                <a:latin typeface="Malgun Gothic"/>
                <a:ea typeface="Malgun Gothic"/>
              </a:rPr>
              <a:t>최소 기능을 개별적으로 검증한 뒤
</a:t>
            </a:r>
            <a:r>
              <a:rPr lang="en-US" altLang="ko-KR" sz="1500" b="1">
                <a:solidFill>
                  <a:srgbClr val="FFFFFF"/>
                </a:solidFill>
                <a:latin typeface="Malgun Gothic"/>
                <a:ea typeface="Malgun Gothic"/>
              </a:rPr>
              <a:t>YOLO → DB → GUI </a:t>
            </a:r>
            <a:r>
              <a:rPr lang="ko-KR" altLang="en-US" sz="1500" b="1">
                <a:solidFill>
                  <a:srgbClr val="FFFFFF"/>
                </a:solidFill>
                <a:latin typeface="Malgun Gothic"/>
                <a:ea typeface="Malgun Gothic"/>
              </a:rPr>
              <a:t>순으로 점진적으로 통합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CD9BD04-A099-4456-8752-9B28DBBDA1CF}"/>
              </a:ext>
            </a:extLst>
          </p:cNvPr>
          <p:cNvSpPr/>
          <p:nvPr/>
        </p:nvSpPr>
        <p:spPr>
          <a:xfrm>
            <a:off x="1397000" y="3625850"/>
            <a:ext cx="1231900" cy="38100"/>
          </a:xfrm>
          <a:prstGeom prst="rect">
            <a:avLst/>
          </a:prstGeom>
          <a:solidFill>
            <a:srgbClr val="8CB9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8E8DC521-7D16-4F77-97BD-C4F06C12A40E}"/>
              </a:ext>
            </a:extLst>
          </p:cNvPr>
          <p:cNvSpPr/>
          <p:nvPr/>
        </p:nvSpPr>
        <p:spPr>
          <a:xfrm>
            <a:off x="3009900" y="3625850"/>
            <a:ext cx="1231900" cy="38100"/>
          </a:xfrm>
          <a:prstGeom prst="rect">
            <a:avLst/>
          </a:prstGeom>
          <a:solidFill>
            <a:srgbClr val="8CB9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C4EBE2E7-9A07-4EC8-A8E0-A51F264DE556}"/>
              </a:ext>
            </a:extLst>
          </p:cNvPr>
          <p:cNvSpPr/>
          <p:nvPr/>
        </p:nvSpPr>
        <p:spPr>
          <a:xfrm>
            <a:off x="4622800" y="3625850"/>
            <a:ext cx="1231900" cy="38100"/>
          </a:xfrm>
          <a:prstGeom prst="rect">
            <a:avLst/>
          </a:prstGeom>
          <a:solidFill>
            <a:srgbClr val="8CB9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D8092C1-B63E-4C43-AFDA-9F214CCE0B78}"/>
              </a:ext>
            </a:extLst>
          </p:cNvPr>
          <p:cNvSpPr/>
          <p:nvPr/>
        </p:nvSpPr>
        <p:spPr>
          <a:xfrm>
            <a:off x="6235700" y="3625850"/>
            <a:ext cx="1231900" cy="38100"/>
          </a:xfrm>
          <a:prstGeom prst="rect">
            <a:avLst/>
          </a:prstGeom>
          <a:solidFill>
            <a:srgbClr val="8CB9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2993069-12C0-45D9-9566-9E5B18A61F1D}"/>
              </a:ext>
            </a:extLst>
          </p:cNvPr>
          <p:cNvSpPr/>
          <p:nvPr/>
        </p:nvSpPr>
        <p:spPr>
          <a:xfrm>
            <a:off x="7848600" y="3625850"/>
            <a:ext cx="1231900" cy="38100"/>
          </a:xfrm>
          <a:prstGeom prst="rect">
            <a:avLst/>
          </a:prstGeom>
          <a:solidFill>
            <a:srgbClr val="8CB9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021672E3-D381-4E22-85D4-83FEDAA045BD}"/>
              </a:ext>
            </a:extLst>
          </p:cNvPr>
          <p:cNvSpPr/>
          <p:nvPr/>
        </p:nvSpPr>
        <p:spPr>
          <a:xfrm>
            <a:off x="9461500" y="3625850"/>
            <a:ext cx="1231900" cy="38100"/>
          </a:xfrm>
          <a:prstGeom prst="rect">
            <a:avLst/>
          </a:prstGeom>
          <a:solidFill>
            <a:srgbClr val="8CB9E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EC3A201F-114A-4E8A-B174-360F1311A0A7}"/>
              </a:ext>
            </a:extLst>
          </p:cNvPr>
          <p:cNvSpPr/>
          <p:nvPr/>
        </p:nvSpPr>
        <p:spPr>
          <a:xfrm>
            <a:off x="1196975" y="3289300"/>
            <a:ext cx="19050" cy="165100"/>
          </a:xfrm>
          <a:prstGeom prst="rect">
            <a:avLst/>
          </a:prstGeom>
          <a:solidFill>
            <a:srgbClr val="AFC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D8225D2-D3DA-442C-9388-49605698D5F6}"/>
              </a:ext>
            </a:extLst>
          </p:cNvPr>
          <p:cNvSpPr/>
          <p:nvPr/>
        </p:nvSpPr>
        <p:spPr>
          <a:xfrm>
            <a:off x="2809875" y="3835400"/>
            <a:ext cx="19050" cy="165100"/>
          </a:xfrm>
          <a:prstGeom prst="rect">
            <a:avLst/>
          </a:prstGeom>
          <a:solidFill>
            <a:srgbClr val="AFC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B65FC8D-9FD0-40BE-82B3-0BFB688CE877}"/>
              </a:ext>
            </a:extLst>
          </p:cNvPr>
          <p:cNvSpPr/>
          <p:nvPr/>
        </p:nvSpPr>
        <p:spPr>
          <a:xfrm>
            <a:off x="4422775" y="3289300"/>
            <a:ext cx="19050" cy="165100"/>
          </a:xfrm>
          <a:prstGeom prst="rect">
            <a:avLst/>
          </a:prstGeom>
          <a:solidFill>
            <a:srgbClr val="AFC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4F16E8F-3DC1-4C2E-A4E7-552BB41D6ED5}"/>
              </a:ext>
            </a:extLst>
          </p:cNvPr>
          <p:cNvSpPr/>
          <p:nvPr/>
        </p:nvSpPr>
        <p:spPr>
          <a:xfrm>
            <a:off x="6035675" y="3835400"/>
            <a:ext cx="19050" cy="165100"/>
          </a:xfrm>
          <a:prstGeom prst="rect">
            <a:avLst/>
          </a:prstGeom>
          <a:solidFill>
            <a:srgbClr val="AFC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F0D8E8FF-08DB-4E72-8E96-F92B068F9C3A}"/>
              </a:ext>
            </a:extLst>
          </p:cNvPr>
          <p:cNvSpPr/>
          <p:nvPr/>
        </p:nvSpPr>
        <p:spPr>
          <a:xfrm>
            <a:off x="7648575" y="3289300"/>
            <a:ext cx="19050" cy="165100"/>
          </a:xfrm>
          <a:prstGeom prst="rect">
            <a:avLst/>
          </a:prstGeom>
          <a:solidFill>
            <a:srgbClr val="AFC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86957CC-B560-424A-BC45-7F0662A17517}"/>
              </a:ext>
            </a:extLst>
          </p:cNvPr>
          <p:cNvSpPr/>
          <p:nvPr/>
        </p:nvSpPr>
        <p:spPr>
          <a:xfrm>
            <a:off x="9261475" y="3835400"/>
            <a:ext cx="19050" cy="165100"/>
          </a:xfrm>
          <a:prstGeom prst="rect">
            <a:avLst/>
          </a:prstGeom>
          <a:solidFill>
            <a:srgbClr val="AFC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71BFF1C4-C92B-451C-9C28-401244C35529}"/>
              </a:ext>
            </a:extLst>
          </p:cNvPr>
          <p:cNvSpPr/>
          <p:nvPr/>
        </p:nvSpPr>
        <p:spPr>
          <a:xfrm>
            <a:off x="10874375" y="3289300"/>
            <a:ext cx="19050" cy="165100"/>
          </a:xfrm>
          <a:prstGeom prst="rect">
            <a:avLst/>
          </a:prstGeom>
          <a:solidFill>
            <a:srgbClr val="AFC9E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12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5250"/>
          </a:xfrm>
          <a:prstGeom prst="rect">
            <a:avLst/>
          </a:prstGeom>
          <a:solidFill>
            <a:srgbClr val="0B4DA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783" y="323850"/>
            <a:ext cx="19347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2F78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RESULT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783" y="590550"/>
            <a:ext cx="165790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3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결과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783" y="1162050"/>
            <a:ext cx="10820129" cy="19050"/>
          </a:xfrm>
          <a:prstGeom prst="rect">
            <a:avLst/>
          </a:prstGeom>
          <a:solidFill>
            <a:srgbClr val="DBE7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783" y="1504950"/>
            <a:ext cx="7238819" cy="4076700"/>
          </a:xfrm>
          <a:prstGeom prst="rect">
            <a:avLst/>
          </a:prstGeom>
          <a:solidFill>
            <a:srgbClr val="F5F8FC"/>
          </a:solidFill>
          <a:ln w="19050">
            <a:solidFill>
              <a:srgbClr val="C8D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72246" y="1504950"/>
            <a:ext cx="3333667" cy="213360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C8D9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72246" y="3905250"/>
            <a:ext cx="3333667" cy="1676400"/>
          </a:xfrm>
          <a:prstGeom prst="roundRect">
            <a:avLst/>
          </a:prstGeom>
          <a:solidFill>
            <a:srgbClr val="0B245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1790" y="4095750"/>
            <a:ext cx="82895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동작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1790" y="4457700"/>
            <a:ext cx="2914577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DCEA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인식 → 상품·가격 등록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DCEA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총액 계산 → 레시피 추천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783" y="5905500"/>
            <a:ext cx="10820129" cy="571500"/>
          </a:xfrm>
          <a:prstGeom prst="rect">
            <a:avLst/>
          </a:prstGeom>
          <a:solidFill>
            <a:srgbClr val="EA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9120" y="5905500"/>
            <a:ext cx="0" cy="57150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2F7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1050" y="6057900"/>
            <a:ext cx="501761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39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YOLO 인식 결과를 가격·총액 계산과 레시피 추천까지 연결</a:t>
            </a:r>
            <a:endParaRPr lang="en-US" sz="1500" dirty="0"/>
          </a:p>
        </p:txBody>
      </p:sp>
      <p:pic>
        <p:nvPicPr>
          <p:cNvPr id="100" name="SMART CART 실제 시연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640" y="1543050"/>
            <a:ext cx="5989320" cy="4000500"/>
          </a:xfrm>
          <a:prstGeom prst="rect">
            <a:avLst/>
          </a:prstGeom>
          <a:ln>
            <a:noFill/>
          </a:ln>
        </p:spPr>
      </p:pic>
      <p:pic>
        <p:nvPicPr>
          <p:cNvPr id="101" name="추천 레시피 팝업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0550" y="1882140"/>
            <a:ext cx="3257550" cy="13792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8615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123B6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04832" y="476250"/>
            <a:ext cx="2091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776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VALUE &amp; NEXT STEP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04832" y="781050"/>
            <a:ext cx="1028674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활용방안 및 기대효과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04832" y="1409700"/>
            <a:ext cx="10782030" cy="19050"/>
          </a:xfrm>
          <a:prstGeom prst="rect">
            <a:avLst/>
          </a:prstGeom>
          <a:solidFill>
            <a:srgbClr val="D7E4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A691323-95C4-45A0-BC48-91FB0EF0C35B}"/>
              </a:ext>
            </a:extLst>
          </p:cNvPr>
          <p:cNvSpPr/>
          <p:nvPr/>
        </p:nvSpPr>
        <p:spPr>
          <a:xfrm>
            <a:off x="704850" y="1714500"/>
            <a:ext cx="2540000" cy="2603500"/>
          </a:xfrm>
          <a:prstGeom prst="rect">
            <a:avLst/>
          </a:prstGeom>
          <a:solidFill>
            <a:srgbClr val="F1F7FD"/>
          </a:solidFill>
          <a:ln w="15240" cap="flat" cmpd="sng" algn="ctr">
            <a:solidFill>
              <a:srgbClr val="2776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4457E14-4422-4E29-B4B8-685438F9CA16}"/>
              </a:ext>
            </a:extLst>
          </p:cNvPr>
          <p:cNvSpPr/>
          <p:nvPr/>
        </p:nvSpPr>
        <p:spPr>
          <a:xfrm>
            <a:off x="704850" y="1714500"/>
            <a:ext cx="2540000" cy="533400"/>
          </a:xfrm>
          <a:prstGeom prst="rect">
            <a:avLst/>
          </a:prstGeom>
          <a:solidFill>
            <a:srgbClr val="2776C8"/>
          </a:solidFill>
          <a:ln w="0" cap="flat" cmpd="sng" algn="ctr">
            <a:solidFill>
              <a:srgbClr val="2776C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6C0AD84E-FD7F-4B5E-8A59-481393B7F67E}"/>
              </a:ext>
            </a:extLst>
          </p:cNvPr>
          <p:cNvSpPr/>
          <p:nvPr/>
        </p:nvSpPr>
        <p:spPr>
          <a:xfrm>
            <a:off x="895350" y="1828800"/>
            <a:ext cx="317500" cy="3175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050" b="1">
                <a:solidFill>
                  <a:srgbClr val="2776C8"/>
                </a:solidFill>
                <a:latin typeface="Malgun Gothic"/>
                <a:ea typeface="Malgun Gothic"/>
              </a:rPr>
              <a:t>1</a:t>
            </a:r>
            <a:endParaRPr lang="ko-KR" altLang="en-US" sz="1050" b="1">
              <a:solidFill>
                <a:srgbClr val="2776C8"/>
              </a:solidFill>
              <a:latin typeface="Malgun Gothic"/>
              <a:ea typeface="Malgun Gothic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B9D773-687B-4B6B-8737-158419CEDD4E}"/>
              </a:ext>
            </a:extLst>
          </p:cNvPr>
          <p:cNvSpPr txBox="1"/>
          <p:nvPr/>
        </p:nvSpPr>
        <p:spPr>
          <a:xfrm>
            <a:off x="1314450" y="1816100"/>
            <a:ext cx="1778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550" b="1">
                <a:solidFill>
                  <a:srgbClr val="FFFFFF"/>
                </a:solidFill>
                <a:latin typeface="Malgun Gothic"/>
                <a:ea typeface="Malgun Gothic"/>
              </a:rPr>
              <a:t>장보기 편의성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CF7108A8-541A-45F7-9268-0633DFD2E0D8}"/>
              </a:ext>
            </a:extLst>
          </p:cNvPr>
          <p:cNvSpPr/>
          <p:nvPr/>
        </p:nvSpPr>
        <p:spPr>
          <a:xfrm>
            <a:off x="933450" y="2578100"/>
            <a:ext cx="76200" cy="76200"/>
          </a:xfrm>
          <a:prstGeom prst="ellipse">
            <a:avLst/>
          </a:prstGeom>
          <a:solidFill>
            <a:srgbClr val="277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E9416F-EA65-4309-94BB-062BFBB2FD8B}"/>
              </a:ext>
            </a:extLst>
          </p:cNvPr>
          <p:cNvSpPr txBox="1"/>
          <p:nvPr/>
        </p:nvSpPr>
        <p:spPr>
          <a:xfrm>
            <a:off x="1111250" y="25146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405A73"/>
                </a:solidFill>
                <a:latin typeface="Malgun Gothic"/>
                <a:ea typeface="Malgun Gothic"/>
              </a:rPr>
              <a:t>카메라로 상품 자동 인식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C5F0B3F-8EE2-4A75-81ED-140F45E6992A}"/>
              </a:ext>
            </a:extLst>
          </p:cNvPr>
          <p:cNvSpPr/>
          <p:nvPr/>
        </p:nvSpPr>
        <p:spPr>
          <a:xfrm>
            <a:off x="933450" y="3111500"/>
            <a:ext cx="76200" cy="76200"/>
          </a:xfrm>
          <a:prstGeom prst="ellipse">
            <a:avLst/>
          </a:prstGeom>
          <a:solidFill>
            <a:srgbClr val="2776C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6749B3-5E98-48F9-85ED-750A3F2D4E89}"/>
              </a:ext>
            </a:extLst>
          </p:cNvPr>
          <p:cNvSpPr txBox="1"/>
          <p:nvPr/>
        </p:nvSpPr>
        <p:spPr>
          <a:xfrm>
            <a:off x="1111250" y="30480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405A73"/>
                </a:solidFill>
                <a:latin typeface="Malgun Gothic"/>
                <a:ea typeface="Malgun Gothic"/>
              </a:rPr>
              <a:t>별도 가격 검색 과정 감소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7C15957-9C75-409A-9DA3-E49DB169A7A4}"/>
              </a:ext>
            </a:extLst>
          </p:cNvPr>
          <p:cNvSpPr/>
          <p:nvPr/>
        </p:nvSpPr>
        <p:spPr>
          <a:xfrm>
            <a:off x="3400425" y="1714500"/>
            <a:ext cx="2540000" cy="2603500"/>
          </a:xfrm>
          <a:prstGeom prst="rect">
            <a:avLst/>
          </a:prstGeom>
          <a:solidFill>
            <a:srgbClr val="F0FAFA"/>
          </a:solidFill>
          <a:ln w="15240" cap="flat" cmpd="sng" algn="ctr">
            <a:solidFill>
              <a:srgbClr val="168C9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9C28E69-F45B-4576-BB34-C2EC5DD7B673}"/>
              </a:ext>
            </a:extLst>
          </p:cNvPr>
          <p:cNvSpPr/>
          <p:nvPr/>
        </p:nvSpPr>
        <p:spPr>
          <a:xfrm>
            <a:off x="3400425" y="1714500"/>
            <a:ext cx="2540000" cy="533400"/>
          </a:xfrm>
          <a:prstGeom prst="rect">
            <a:avLst/>
          </a:prstGeom>
          <a:solidFill>
            <a:srgbClr val="168C9A"/>
          </a:solidFill>
          <a:ln w="0" cap="flat" cmpd="sng" algn="ctr">
            <a:solidFill>
              <a:srgbClr val="168C9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1AC5E7D-5734-476B-9107-11051FB1524E}"/>
              </a:ext>
            </a:extLst>
          </p:cNvPr>
          <p:cNvSpPr/>
          <p:nvPr/>
        </p:nvSpPr>
        <p:spPr>
          <a:xfrm>
            <a:off x="3590925" y="1828800"/>
            <a:ext cx="317500" cy="3175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050" b="1">
                <a:solidFill>
                  <a:srgbClr val="168C9A"/>
                </a:solidFill>
                <a:latin typeface="Malgun Gothic"/>
                <a:ea typeface="Malgun Gothic"/>
              </a:rPr>
              <a:t>2</a:t>
            </a:r>
            <a:endParaRPr lang="ko-KR" altLang="en-US" sz="1050" b="1">
              <a:solidFill>
                <a:srgbClr val="168C9A"/>
              </a:solidFill>
              <a:latin typeface="Malgun Gothic"/>
              <a:ea typeface="Malgun Gothic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8010E6-3435-486F-AFDC-0F02CF624D6E}"/>
              </a:ext>
            </a:extLst>
          </p:cNvPr>
          <p:cNvSpPr txBox="1"/>
          <p:nvPr/>
        </p:nvSpPr>
        <p:spPr>
          <a:xfrm>
            <a:off x="4010025" y="1816100"/>
            <a:ext cx="1778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550" b="1">
                <a:solidFill>
                  <a:srgbClr val="FFFFFF"/>
                </a:solidFill>
                <a:latin typeface="Malgun Gothic"/>
                <a:ea typeface="Malgun Gothic"/>
              </a:rPr>
              <a:t>예산 관리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8B9CCD55-F6B7-4202-89E1-EE4EDD49EF9F}"/>
              </a:ext>
            </a:extLst>
          </p:cNvPr>
          <p:cNvSpPr/>
          <p:nvPr/>
        </p:nvSpPr>
        <p:spPr>
          <a:xfrm>
            <a:off x="3629025" y="2578100"/>
            <a:ext cx="76200" cy="76200"/>
          </a:xfrm>
          <a:prstGeom prst="ellipse">
            <a:avLst/>
          </a:prstGeom>
          <a:solidFill>
            <a:srgbClr val="168C9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51AB43-2AAD-4DF2-93F2-659138419CC9}"/>
              </a:ext>
            </a:extLst>
          </p:cNvPr>
          <p:cNvSpPr txBox="1"/>
          <p:nvPr/>
        </p:nvSpPr>
        <p:spPr>
          <a:xfrm>
            <a:off x="3806825" y="25146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405A73"/>
                </a:solidFill>
                <a:latin typeface="Malgun Gothic"/>
                <a:ea typeface="Malgun Gothic"/>
              </a:rPr>
              <a:t>상품별 가격 표시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16A14CC-8BC1-4CD4-A541-F960F2B81FF4}"/>
              </a:ext>
            </a:extLst>
          </p:cNvPr>
          <p:cNvSpPr/>
          <p:nvPr/>
        </p:nvSpPr>
        <p:spPr>
          <a:xfrm>
            <a:off x="3629025" y="3111500"/>
            <a:ext cx="76200" cy="76200"/>
          </a:xfrm>
          <a:prstGeom prst="ellipse">
            <a:avLst/>
          </a:prstGeom>
          <a:solidFill>
            <a:srgbClr val="168C9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03AFB2-9BFD-465E-A7C6-9BB076CD2ADD}"/>
              </a:ext>
            </a:extLst>
          </p:cNvPr>
          <p:cNvSpPr txBox="1"/>
          <p:nvPr/>
        </p:nvSpPr>
        <p:spPr>
          <a:xfrm>
            <a:off x="3806825" y="30480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405A73"/>
                </a:solidFill>
                <a:latin typeface="Malgun Gothic"/>
                <a:ea typeface="Malgun Gothic"/>
              </a:rPr>
              <a:t>누적 구매금액 실시간 확인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9F473F6-58CB-4C0E-A7F2-123C8DEBFE76}"/>
              </a:ext>
            </a:extLst>
          </p:cNvPr>
          <p:cNvSpPr/>
          <p:nvPr/>
        </p:nvSpPr>
        <p:spPr>
          <a:xfrm>
            <a:off x="6096000" y="1714500"/>
            <a:ext cx="2540000" cy="2603500"/>
          </a:xfrm>
          <a:prstGeom prst="rect">
            <a:avLst/>
          </a:prstGeom>
          <a:solidFill>
            <a:srgbClr val="F6F2FC"/>
          </a:solidFill>
          <a:ln w="15240" cap="flat" cmpd="sng" algn="ctr">
            <a:solidFill>
              <a:srgbClr val="7B55C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4036A42-D040-4E7B-8F79-C4140709E334}"/>
              </a:ext>
            </a:extLst>
          </p:cNvPr>
          <p:cNvSpPr/>
          <p:nvPr/>
        </p:nvSpPr>
        <p:spPr>
          <a:xfrm>
            <a:off x="6096000" y="1714500"/>
            <a:ext cx="2540000" cy="533400"/>
          </a:xfrm>
          <a:prstGeom prst="rect">
            <a:avLst/>
          </a:prstGeom>
          <a:solidFill>
            <a:srgbClr val="7B55C7"/>
          </a:solidFill>
          <a:ln w="0" cap="flat" cmpd="sng" algn="ctr">
            <a:solidFill>
              <a:srgbClr val="7B55C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DBA8184-6FC5-447C-A075-8E3C63063204}"/>
              </a:ext>
            </a:extLst>
          </p:cNvPr>
          <p:cNvSpPr/>
          <p:nvPr/>
        </p:nvSpPr>
        <p:spPr>
          <a:xfrm>
            <a:off x="6286500" y="1828800"/>
            <a:ext cx="317500" cy="3175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050" b="1">
                <a:solidFill>
                  <a:srgbClr val="7B55C7"/>
                </a:solidFill>
                <a:latin typeface="Malgun Gothic"/>
                <a:ea typeface="Malgun Gothic"/>
              </a:rPr>
              <a:t>3</a:t>
            </a:r>
            <a:endParaRPr lang="ko-KR" altLang="en-US" sz="1050" b="1">
              <a:solidFill>
                <a:srgbClr val="7B55C7"/>
              </a:solidFill>
              <a:latin typeface="Malgun Gothic"/>
              <a:ea typeface="Malgun Gothic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BDA547-D3F1-4607-B67D-90339E55DBAA}"/>
              </a:ext>
            </a:extLst>
          </p:cNvPr>
          <p:cNvSpPr txBox="1"/>
          <p:nvPr/>
        </p:nvSpPr>
        <p:spPr>
          <a:xfrm>
            <a:off x="6705600" y="1816100"/>
            <a:ext cx="1778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550" b="1">
                <a:solidFill>
                  <a:srgbClr val="FFFFFF"/>
                </a:solidFill>
                <a:latin typeface="Malgun Gothic"/>
                <a:ea typeface="Malgun Gothic"/>
              </a:rPr>
              <a:t>식재료 활용</a:t>
            </a:r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D91E8B6E-8B52-4DD0-9A86-88E4CC212C10}"/>
              </a:ext>
            </a:extLst>
          </p:cNvPr>
          <p:cNvSpPr/>
          <p:nvPr/>
        </p:nvSpPr>
        <p:spPr>
          <a:xfrm>
            <a:off x="6324600" y="2578100"/>
            <a:ext cx="76200" cy="76200"/>
          </a:xfrm>
          <a:prstGeom prst="ellipse">
            <a:avLst/>
          </a:prstGeom>
          <a:solidFill>
            <a:srgbClr val="7B55C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E502A0-9DD1-4B28-81DF-7A4BD131CBE8}"/>
              </a:ext>
            </a:extLst>
          </p:cNvPr>
          <p:cNvSpPr txBox="1"/>
          <p:nvPr/>
        </p:nvSpPr>
        <p:spPr>
          <a:xfrm>
            <a:off x="6502400" y="25146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405A73"/>
                </a:solidFill>
                <a:latin typeface="Malgun Gothic"/>
                <a:ea typeface="Malgun Gothic"/>
              </a:rPr>
              <a:t>구매 재료 기반 레시피 추천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D14AC766-F525-42BD-957E-C38D93D1E127}"/>
              </a:ext>
            </a:extLst>
          </p:cNvPr>
          <p:cNvSpPr/>
          <p:nvPr/>
        </p:nvSpPr>
        <p:spPr>
          <a:xfrm>
            <a:off x="6324600" y="3111500"/>
            <a:ext cx="76200" cy="76200"/>
          </a:xfrm>
          <a:prstGeom prst="ellipse">
            <a:avLst/>
          </a:prstGeom>
          <a:solidFill>
            <a:srgbClr val="7B55C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FCB18A-41F5-4ED0-B503-F801C4764CED}"/>
              </a:ext>
            </a:extLst>
          </p:cNvPr>
          <p:cNvSpPr txBox="1"/>
          <p:nvPr/>
        </p:nvSpPr>
        <p:spPr>
          <a:xfrm>
            <a:off x="6502400" y="30480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405A73"/>
                </a:solidFill>
                <a:latin typeface="Malgun Gothic"/>
                <a:ea typeface="Malgun Gothic"/>
              </a:rPr>
              <a:t>부족 재료</a:t>
            </a:r>
            <a:r>
              <a:rPr lang="en-US" altLang="ko-KR" sz="1050">
                <a:solidFill>
                  <a:srgbClr val="405A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50">
                <a:solidFill>
                  <a:srgbClr val="405A73"/>
                </a:solidFill>
                <a:latin typeface="Malgun Gothic"/>
                <a:ea typeface="Malgun Gothic"/>
              </a:rPr>
              <a:t>충족률 확인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5043E599-3071-4EEC-84B5-C8A5E182B4CE}"/>
              </a:ext>
            </a:extLst>
          </p:cNvPr>
          <p:cNvSpPr/>
          <p:nvPr/>
        </p:nvSpPr>
        <p:spPr>
          <a:xfrm>
            <a:off x="6324600" y="3644900"/>
            <a:ext cx="76200" cy="76200"/>
          </a:xfrm>
          <a:prstGeom prst="ellipse">
            <a:avLst/>
          </a:prstGeom>
          <a:solidFill>
            <a:srgbClr val="7B55C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598729-D14D-4D83-8DA6-95C515D095D3}"/>
              </a:ext>
            </a:extLst>
          </p:cNvPr>
          <p:cNvSpPr txBox="1"/>
          <p:nvPr/>
        </p:nvSpPr>
        <p:spPr>
          <a:xfrm>
            <a:off x="6502400" y="35814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405A73"/>
                </a:solidFill>
                <a:latin typeface="Malgun Gothic"/>
                <a:ea typeface="Malgun Gothic"/>
              </a:rPr>
              <a:t>식재료 활용도 향상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B247ACC-F9B6-4A44-9CAE-9B7E9A0862F7}"/>
              </a:ext>
            </a:extLst>
          </p:cNvPr>
          <p:cNvSpPr/>
          <p:nvPr/>
        </p:nvSpPr>
        <p:spPr>
          <a:xfrm>
            <a:off x="8791575" y="1714500"/>
            <a:ext cx="2540000" cy="2603500"/>
          </a:xfrm>
          <a:prstGeom prst="rect">
            <a:avLst/>
          </a:prstGeom>
          <a:solidFill>
            <a:srgbClr val="F1FAF4"/>
          </a:solidFill>
          <a:ln w="15240" cap="flat" cmpd="sng" algn="ctr">
            <a:solidFill>
              <a:srgbClr val="22955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B7204D8-D9A5-4282-8FF3-239C3823F9D5}"/>
              </a:ext>
            </a:extLst>
          </p:cNvPr>
          <p:cNvSpPr/>
          <p:nvPr/>
        </p:nvSpPr>
        <p:spPr>
          <a:xfrm>
            <a:off x="8791575" y="1714500"/>
            <a:ext cx="2540000" cy="533400"/>
          </a:xfrm>
          <a:prstGeom prst="rect">
            <a:avLst/>
          </a:prstGeom>
          <a:solidFill>
            <a:srgbClr val="229553"/>
          </a:solidFill>
          <a:ln w="0" cap="flat" cmpd="sng" algn="ctr">
            <a:solidFill>
              <a:srgbClr val="22955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3B938723-F11B-49F3-B1E4-FA071A6490D9}"/>
              </a:ext>
            </a:extLst>
          </p:cNvPr>
          <p:cNvSpPr/>
          <p:nvPr/>
        </p:nvSpPr>
        <p:spPr>
          <a:xfrm>
            <a:off x="8982075" y="1828800"/>
            <a:ext cx="317500" cy="317500"/>
          </a:xfrm>
          <a:prstGeom prst="ellipse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altLang="ko-KR" sz="1050" b="1">
                <a:solidFill>
                  <a:srgbClr val="229553"/>
                </a:solidFill>
                <a:latin typeface="Malgun Gothic"/>
                <a:ea typeface="Malgun Gothic"/>
              </a:rPr>
              <a:t>4</a:t>
            </a:r>
            <a:endParaRPr lang="ko-KR" altLang="en-US" sz="1050" b="1">
              <a:solidFill>
                <a:srgbClr val="229553"/>
              </a:solidFill>
              <a:latin typeface="Malgun Gothic"/>
              <a:ea typeface="Malgun Gothic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B71DA4A-D901-4BD1-84C7-9C27EE7F61C6}"/>
              </a:ext>
            </a:extLst>
          </p:cNvPr>
          <p:cNvSpPr txBox="1"/>
          <p:nvPr/>
        </p:nvSpPr>
        <p:spPr>
          <a:xfrm>
            <a:off x="9401175" y="1816100"/>
            <a:ext cx="1778000" cy="330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550" b="1">
                <a:solidFill>
                  <a:srgbClr val="FFFFFF"/>
                </a:solidFill>
                <a:latin typeface="Malgun Gothic"/>
                <a:ea typeface="Malgun Gothic"/>
              </a:rPr>
              <a:t>시스템 확장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7867F853-78A8-49CC-AA49-D97D1F699A27}"/>
              </a:ext>
            </a:extLst>
          </p:cNvPr>
          <p:cNvSpPr/>
          <p:nvPr/>
        </p:nvSpPr>
        <p:spPr>
          <a:xfrm>
            <a:off x="9020175" y="2578100"/>
            <a:ext cx="76200" cy="76200"/>
          </a:xfrm>
          <a:prstGeom prst="ellipse">
            <a:avLst/>
          </a:prstGeom>
          <a:solidFill>
            <a:srgbClr val="22955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277BE0-44B3-4A31-AA2D-50C522FBCDB4}"/>
              </a:ext>
            </a:extLst>
          </p:cNvPr>
          <p:cNvSpPr txBox="1"/>
          <p:nvPr/>
        </p:nvSpPr>
        <p:spPr>
          <a:xfrm>
            <a:off x="9197975" y="25146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405A73"/>
                </a:solidFill>
                <a:latin typeface="Malgun Gothic"/>
                <a:ea typeface="Malgun Gothic"/>
              </a:rPr>
              <a:t>실제 마트 가격 </a:t>
            </a:r>
            <a:r>
              <a:rPr lang="en-US" altLang="ko-KR" sz="1050">
                <a:solidFill>
                  <a:srgbClr val="405A73"/>
                </a:solidFill>
                <a:latin typeface="Malgun Gothic"/>
                <a:ea typeface="Malgun Gothic"/>
              </a:rPr>
              <a:t>DB </a:t>
            </a:r>
            <a:r>
              <a:rPr lang="ko-KR" altLang="en-US" sz="1050">
                <a:solidFill>
                  <a:srgbClr val="405A73"/>
                </a:solidFill>
                <a:latin typeface="Malgun Gothic"/>
                <a:ea typeface="Malgun Gothic"/>
              </a:rPr>
              <a:t>연동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846B2E12-67F4-4B89-BE63-A206BDD08D70}"/>
              </a:ext>
            </a:extLst>
          </p:cNvPr>
          <p:cNvSpPr/>
          <p:nvPr/>
        </p:nvSpPr>
        <p:spPr>
          <a:xfrm>
            <a:off x="9020175" y="3111500"/>
            <a:ext cx="76200" cy="76200"/>
          </a:xfrm>
          <a:prstGeom prst="ellipse">
            <a:avLst/>
          </a:prstGeom>
          <a:solidFill>
            <a:srgbClr val="22955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0563EC-1D00-4189-9F28-F0EEBE04C36D}"/>
              </a:ext>
            </a:extLst>
          </p:cNvPr>
          <p:cNvSpPr txBox="1"/>
          <p:nvPr/>
        </p:nvSpPr>
        <p:spPr>
          <a:xfrm>
            <a:off x="9197975" y="30480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en-US" altLang="ko-KR" sz="1050">
                <a:solidFill>
                  <a:srgbClr val="405A73"/>
                </a:solidFill>
                <a:latin typeface="Malgun Gothic"/>
                <a:ea typeface="Malgun Gothic"/>
              </a:rPr>
              <a:t>Edge / Local YOLO </a:t>
            </a:r>
            <a:r>
              <a:rPr lang="ko-KR" altLang="en-US" sz="1050">
                <a:solidFill>
                  <a:srgbClr val="405A73"/>
                </a:solidFill>
                <a:latin typeface="Malgun Gothic"/>
                <a:ea typeface="Malgun Gothic"/>
              </a:rPr>
              <a:t>추론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284A9B8D-F48A-4731-BC84-64F208E5C8E1}"/>
              </a:ext>
            </a:extLst>
          </p:cNvPr>
          <p:cNvSpPr/>
          <p:nvPr/>
        </p:nvSpPr>
        <p:spPr>
          <a:xfrm>
            <a:off x="9020175" y="3644900"/>
            <a:ext cx="76200" cy="76200"/>
          </a:xfrm>
          <a:prstGeom prst="ellipse">
            <a:avLst/>
          </a:prstGeom>
          <a:solidFill>
            <a:srgbClr val="22955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135CC3-390B-4E19-8C68-FA982CB0DD15}"/>
              </a:ext>
            </a:extLst>
          </p:cNvPr>
          <p:cNvSpPr txBox="1"/>
          <p:nvPr/>
        </p:nvSpPr>
        <p:spPr>
          <a:xfrm>
            <a:off x="9197975" y="3581400"/>
            <a:ext cx="20828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1050">
                <a:solidFill>
                  <a:srgbClr val="405A73"/>
                </a:solidFill>
                <a:latin typeface="Malgun Gothic"/>
                <a:ea typeface="Malgun Gothic"/>
              </a:rPr>
              <a:t>카트 디스플레이</a:t>
            </a:r>
            <a:r>
              <a:rPr lang="en-US" altLang="ko-KR" sz="1050">
                <a:solidFill>
                  <a:srgbClr val="405A73"/>
                </a:solidFill>
                <a:latin typeface="Malgun Gothic"/>
                <a:ea typeface="Malgun Gothic"/>
              </a:rPr>
              <a:t>·</a:t>
            </a:r>
            <a:r>
              <a:rPr lang="ko-KR" altLang="en-US" sz="1050">
                <a:solidFill>
                  <a:srgbClr val="405A73"/>
                </a:solidFill>
                <a:latin typeface="Malgun Gothic"/>
                <a:ea typeface="Malgun Gothic"/>
              </a:rPr>
              <a:t>키오스크 적용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6D9EB12-DD41-485C-BD91-C4E0B5C1D73E}"/>
              </a:ext>
            </a:extLst>
          </p:cNvPr>
          <p:cNvSpPr/>
          <p:nvPr/>
        </p:nvSpPr>
        <p:spPr>
          <a:xfrm>
            <a:off x="704850" y="4495800"/>
            <a:ext cx="10782300" cy="838200"/>
          </a:xfrm>
          <a:prstGeom prst="rect">
            <a:avLst/>
          </a:prstGeom>
          <a:solidFill>
            <a:srgbClr val="F5F8FB"/>
          </a:solidFill>
          <a:ln w="11430" cap="flat" cmpd="sng" algn="ctr">
            <a:solidFill>
              <a:srgbClr val="C5D9EC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7B8155-D519-486C-8420-09406EEFEADC}"/>
              </a:ext>
            </a:extLst>
          </p:cNvPr>
          <p:cNvSpPr txBox="1"/>
          <p:nvPr/>
        </p:nvSpPr>
        <p:spPr>
          <a:xfrm>
            <a:off x="927100" y="4635500"/>
            <a:ext cx="1041400" cy="228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20000"/>
          </a:bodyPr>
          <a:lstStyle/>
          <a:p>
            <a:pPr algn="l"/>
            <a:r>
              <a:rPr lang="ko-KR" altLang="en-US" sz="1150" b="1">
                <a:solidFill>
                  <a:srgbClr val="123B6D"/>
                </a:solidFill>
                <a:latin typeface="Malgun Gothic"/>
                <a:ea typeface="Malgun Gothic"/>
              </a:rPr>
              <a:t>향후 개선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9A292B-58C3-4457-9EC9-1FBD569AD2FE}"/>
              </a:ext>
            </a:extLst>
          </p:cNvPr>
          <p:cNvSpPr txBox="1"/>
          <p:nvPr/>
        </p:nvSpPr>
        <p:spPr>
          <a:xfrm>
            <a:off x="2095500" y="4572000"/>
            <a:ext cx="91186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/>
          </a:bodyPr>
          <a:lstStyle/>
          <a:p>
            <a:pPr algn="l"/>
            <a:r>
              <a:rPr lang="ko-KR" altLang="en-US" sz="950">
                <a:solidFill>
                  <a:srgbClr val="5A7188"/>
                </a:solidFill>
                <a:latin typeface="Malgun Gothic"/>
                <a:ea typeface="Malgun Gothic"/>
              </a:rPr>
              <a:t>실제 카트 환경 데이터 추가  </a:t>
            </a:r>
            <a:r>
              <a:rPr lang="en-US" altLang="ko-KR" sz="950">
                <a:solidFill>
                  <a:srgbClr val="5A7188"/>
                </a:solidFill>
                <a:latin typeface="Malgun Gothic"/>
                <a:ea typeface="Malgun Gothic"/>
              </a:rPr>
              <a:t>·  </a:t>
            </a:r>
            <a:r>
              <a:rPr lang="ko-KR" altLang="en-US" sz="950">
                <a:solidFill>
                  <a:srgbClr val="5A7188"/>
                </a:solidFill>
                <a:latin typeface="Malgun Gothic"/>
                <a:ea typeface="Malgun Gothic"/>
              </a:rPr>
              <a:t>클래스별 </a:t>
            </a:r>
            <a:r>
              <a:rPr lang="en-US" altLang="ko-KR" sz="950">
                <a:solidFill>
                  <a:srgbClr val="5A7188"/>
                </a:solidFill>
                <a:latin typeface="Malgun Gothic"/>
                <a:ea typeface="Malgun Gothic"/>
              </a:rPr>
              <a:t>Precision / Recall </a:t>
            </a:r>
            <a:r>
              <a:rPr lang="ko-KR" altLang="en-US" sz="950">
                <a:solidFill>
                  <a:srgbClr val="5A7188"/>
                </a:solidFill>
                <a:latin typeface="Malgun Gothic"/>
                <a:ea typeface="Malgun Gothic"/>
              </a:rPr>
              <a:t>개선  </a:t>
            </a:r>
            <a:r>
              <a:rPr lang="en-US" altLang="ko-KR" sz="950">
                <a:solidFill>
                  <a:srgbClr val="5A7188"/>
                </a:solidFill>
                <a:latin typeface="Malgun Gothic"/>
                <a:ea typeface="Malgun Gothic"/>
              </a:rPr>
              <a:t>·  </a:t>
            </a:r>
            <a:r>
              <a:rPr lang="ko-KR" altLang="en-US" sz="950">
                <a:solidFill>
                  <a:srgbClr val="5A7188"/>
                </a:solidFill>
                <a:latin typeface="Malgun Gothic"/>
                <a:ea typeface="Malgun Gothic"/>
              </a:rPr>
              <a:t>더 큰 </a:t>
            </a:r>
            <a:r>
              <a:rPr lang="en-US" altLang="ko-KR" sz="950">
                <a:solidFill>
                  <a:srgbClr val="5A7188"/>
                </a:solidFill>
                <a:latin typeface="Malgun Gothic"/>
                <a:ea typeface="Malgun Gothic"/>
              </a:rPr>
              <a:t>Test Set </a:t>
            </a:r>
            <a:r>
              <a:rPr lang="ko-KR" altLang="en-US" sz="950">
                <a:solidFill>
                  <a:srgbClr val="5A7188"/>
                </a:solidFill>
                <a:latin typeface="Malgun Gothic"/>
                <a:ea typeface="Malgun Gothic"/>
              </a:rPr>
              <a:t>일반화 검증
</a:t>
            </a:r>
            <a:r>
              <a:rPr lang="en-US" altLang="ko-KR" sz="950">
                <a:solidFill>
                  <a:srgbClr val="5A7188"/>
                </a:solidFill>
                <a:latin typeface="Malgun Gothic"/>
                <a:ea typeface="Malgun Gothic"/>
              </a:rPr>
              <a:t>Roboflow Hosted → Edge Inference </a:t>
            </a:r>
            <a:r>
              <a:rPr lang="ko-KR" altLang="en-US" sz="950">
                <a:solidFill>
                  <a:srgbClr val="5A7188"/>
                </a:solidFill>
                <a:latin typeface="Malgun Gothic"/>
                <a:ea typeface="Malgun Gothic"/>
              </a:rPr>
              <a:t>확장  </a:t>
            </a:r>
            <a:r>
              <a:rPr lang="en-US" altLang="ko-KR" sz="950">
                <a:solidFill>
                  <a:srgbClr val="5A7188"/>
                </a:solidFill>
                <a:latin typeface="Malgun Gothic"/>
                <a:ea typeface="Malgun Gothic"/>
              </a:rPr>
              <a:t>·  </a:t>
            </a:r>
            <a:r>
              <a:rPr lang="ko-KR" altLang="en-US" sz="950">
                <a:solidFill>
                  <a:srgbClr val="5A7188"/>
                </a:solidFill>
                <a:latin typeface="Malgun Gothic"/>
                <a:ea typeface="Malgun Gothic"/>
              </a:rPr>
              <a:t>실제 상품 가격 </a:t>
            </a:r>
            <a:r>
              <a:rPr lang="en-US" altLang="ko-KR" sz="950">
                <a:solidFill>
                  <a:srgbClr val="5A7188"/>
                </a:solidFill>
                <a:latin typeface="Malgun Gothic"/>
                <a:ea typeface="Malgun Gothic"/>
              </a:rPr>
              <a:t>DB </a:t>
            </a:r>
            <a:r>
              <a:rPr lang="ko-KR" altLang="en-US" sz="950">
                <a:solidFill>
                  <a:srgbClr val="5A7188"/>
                </a:solidFill>
                <a:latin typeface="Malgun Gothic"/>
                <a:ea typeface="Malgun Gothic"/>
              </a:rPr>
              <a:t>연동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C605A99-F990-477B-997D-C742968C8AFD}"/>
              </a:ext>
            </a:extLst>
          </p:cNvPr>
          <p:cNvSpPr/>
          <p:nvPr/>
        </p:nvSpPr>
        <p:spPr>
          <a:xfrm>
            <a:off x="704850" y="5524500"/>
            <a:ext cx="10782300" cy="914400"/>
          </a:xfrm>
          <a:prstGeom prst="rect">
            <a:avLst/>
          </a:prstGeom>
          <a:solidFill>
            <a:srgbClr val="123B6D"/>
          </a:solidFill>
          <a:ln w="0" cap="flat" cmpd="sng" algn="ctr">
            <a:solidFill>
              <a:srgbClr val="123B6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73C720C-C03C-4D11-8301-850096622C2B}"/>
              </a:ext>
            </a:extLst>
          </p:cNvPr>
          <p:cNvSpPr txBox="1"/>
          <p:nvPr/>
        </p:nvSpPr>
        <p:spPr>
          <a:xfrm>
            <a:off x="1524000" y="5664200"/>
            <a:ext cx="9144000" cy="609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rmAutofit fontScale="92500" lnSpcReduction="20000"/>
          </a:bodyPr>
          <a:lstStyle/>
          <a:p>
            <a:pPr algn="l"/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Computer Vision </a:t>
            </a:r>
            <a:r>
              <a:rPr lang="ko-KR" altLang="en-US" sz="2000" b="1">
                <a:solidFill>
                  <a:srgbClr val="FFFFFF"/>
                </a:solidFill>
                <a:latin typeface="Malgun Gothic"/>
                <a:ea typeface="Malgun Gothic"/>
              </a:rPr>
              <a:t>모델을 실제 장보기 서비스까지 연결한
</a:t>
            </a:r>
            <a:r>
              <a:rPr lang="en-US" altLang="ko-KR" sz="2000" b="1">
                <a:solidFill>
                  <a:srgbClr val="FFFFFF"/>
                </a:solidFill>
                <a:latin typeface="Malgun Gothic"/>
                <a:ea typeface="Malgun Gothic"/>
              </a:rPr>
              <a:t>AI Smart Cart Prototype</a:t>
            </a:r>
            <a:endParaRPr lang="ko-KR" altLang="en-US" sz="2000" b="1">
              <a:solidFill>
                <a:srgbClr val="FFFFFF"/>
              </a:solidFill>
              <a:latin typeface="Malgun Gothic"/>
              <a:ea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19602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328620E-5C76-406D-8DC7-7B168F7E1BB9}">
  <we:reference id="wa200010215" version="2.0.0.0" store="ko-KR" storeType="OMEX"/>
  <we:alternateReferences>
    <we:reference id="wa200010215" version="2.0.0.0" store="wa200010215" storeType="OMEX"/>
  </we:alternateReferences>
  <we:properties>
    <we:property name="bps.codex_control.document_id" value="&quot;a4770faa-d296-452c-aba1-e7d6afc4377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622</Words>
  <Application>Microsoft Office PowerPoint</Application>
  <PresentationFormat>와이드스크린</PresentationFormat>
  <Paragraphs>127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15</cp:revision>
  <dcterms:created xsi:type="dcterms:W3CDTF">2026-09-07T05:59:39Z</dcterms:created>
  <dcterms:modified xsi:type="dcterms:W3CDTF">2026-09-07T06:56:39Z</dcterms:modified>
</cp:coreProperties>
</file>